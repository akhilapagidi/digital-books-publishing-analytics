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57" r:id="rId5"/>
    <p:sldId id="258" r:id="rId6"/>
    <p:sldId id="259" r:id="rId7"/>
    <p:sldId id="260" r:id="rId8"/>
    <p:sldId id="262" r:id="rId9"/>
    <p:sldId id="272" r:id="rId10"/>
    <p:sldId id="263" r:id="rId11"/>
    <p:sldId id="264" r:id="rId12"/>
    <p:sldId id="276" r:id="rId13"/>
    <p:sldId id="274" r:id="rId14"/>
    <p:sldId id="277" r:id="rId15"/>
    <p:sldId id="275" r:id="rId16"/>
    <p:sldId id="278" r:id="rId17"/>
    <p:sldId id="268" r:id="rId18"/>
    <p:sldId id="269" r:id="rId19"/>
    <p:sldId id="273" r:id="rId20"/>
    <p:sldId id="270" r:id="rId21"/>
    <p:sldId id="271" r:id="rId22"/>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2002C28C-A94A-4206-88AC-5AA2D107CE28}"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7BD1563B-8C5D-41B3-94A6-02668D3CAE3A}" type="slidenum">
              <a:t>‹#›</a:t>
            </a:fld>
            <a:endParaRPr/>
          </a:p>
        </p:txBody>
      </p:sp>
      <p:sp>
        <p:nvSpPr>
          <p:cNvPr id="2"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BD9D660D-71D3-4E15-9C68-C10A41D98A6F}"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49915D29-EB15-44BF-B693-B0C2DC0C04F2}"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61BFAF95-4919-45DD-BED0-E2F7B4101785}"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5FEA10CF-B31B-4910-85FB-4BC11638FB77}"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4BE403A5-E0E5-42B7-A882-CACE0710D96F}"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88FE93DB-4A2C-426D-AB02-10EC2EAE4B2E}"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2F73D7F2-000E-4839-B1E5-D7CE252D821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0F3F7EBB-B968-4E5F-9FF5-F3A26B78454E}"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DBF46657-76FA-4A11-8FEF-0ECC9B05672A}"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C5FB9F4C-4E44-4F0E-B70E-535ECCBEA31F}"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CEFF55C2-07DC-417F-92CA-7840B370E2A1}"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4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1618A60D-CAE7-466D-9547-3F9BA14C5618}"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6A2D48F0-FF5C-4A4F-ABAB-D05F636377E7}"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2A81588E-CCCB-4C41-ACDB-A4C19A963BC0}"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FEC5AB8E-11F8-40FE-A24A-55915775F8E8}"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42585F8C-8ADD-4E50-8938-03D396DBA209}"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5C117E23-6039-4D43-9458-A5749E6FF59B}"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6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4"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63020971-7282-43BD-9E09-3A7F20354C63}"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6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8"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E4941D82-30F9-4C85-AA17-BCB4C52EEDE0}"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9974C563-EE00-49CA-9D9B-51A841732B48}"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6"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63CAA71B-A934-4DB8-8C5D-34BFB7A9C358}"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78"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9"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80"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81"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82"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83"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7A5AEC9C-F4D1-478D-B789-8D2C9399752F}"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87B1153C-943B-4F08-958B-50917A0B8142}"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92A6DAD4-6D14-47F1-BB8B-C45AC1BADF81}"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2B8E73EC-3677-4D4A-9E9F-AD7225ACFE3F}"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9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DBDD1788-6092-4BBC-AFBA-652263E1FDF8}"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BDE9F485-BF21-4BE0-8A47-492D6A6853E7}"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B9C15346-8BDA-405B-B280-DBD2766F801D}" type="slidenum">
              <a:t>‹#›</a:t>
            </a:fld>
            <a:endParaRPr/>
          </a:p>
        </p:txBody>
      </p:sp>
      <p:sp>
        <p:nvSpPr>
          <p:cNvPr id="5" name="PlaceHolder 4"/>
          <p:cNvSpPr>
            <a:spLocks noGrp="1"/>
          </p:cNvSpPr>
          <p:nvPr>
            <p:ph type="dt" idx="9"/>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B854DD59-EA88-4512-82B1-6F0E8022B215}"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7F023589-6D18-4BAC-B6E5-2338E193B5FB}"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0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0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 name="PlaceHolder 5"/>
          <p:cNvSpPr>
            <a:spLocks noGrp="1"/>
          </p:cNvSpPr>
          <p:nvPr>
            <p:ph type="ftr" idx="7"/>
          </p:nvPr>
        </p:nvSpPr>
        <p:spPr/>
        <p:txBody>
          <a:bodyPr/>
          <a:lstStyle/>
          <a:p>
            <a:r>
              <a:t>Footer</a:t>
            </a:r>
          </a:p>
        </p:txBody>
      </p:sp>
      <p:sp>
        <p:nvSpPr>
          <p:cNvPr id="7" name="PlaceHolder 6"/>
          <p:cNvSpPr>
            <a:spLocks noGrp="1"/>
          </p:cNvSpPr>
          <p:nvPr>
            <p:ph type="sldNum" idx="8"/>
          </p:nvPr>
        </p:nvSpPr>
        <p:spPr/>
        <p:txBody>
          <a:bodyPr/>
          <a:lstStyle/>
          <a:p>
            <a:fld id="{6D669515-FA9E-4A87-8C4A-6A2E1B0DCFD0}" type="slidenum">
              <a:t>‹#›</a:t>
            </a:fld>
            <a:endParaRPr/>
          </a:p>
        </p:txBody>
      </p:sp>
      <p:sp>
        <p:nvSpPr>
          <p:cNvPr id="8" name="PlaceHolder 7"/>
          <p:cNvSpPr>
            <a:spLocks noGrp="1"/>
          </p:cNvSpPr>
          <p:nvPr>
            <p:ph type="dt" idx="9"/>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 name="PlaceHolder 4"/>
          <p:cNvSpPr>
            <a:spLocks noGrp="1"/>
          </p:cNvSpPr>
          <p:nvPr>
            <p:ph type="ftr" idx="7"/>
          </p:nvPr>
        </p:nvSpPr>
        <p:spPr/>
        <p:txBody>
          <a:bodyPr/>
          <a:lstStyle/>
          <a:p>
            <a:r>
              <a:t>Footer</a:t>
            </a:r>
          </a:p>
        </p:txBody>
      </p:sp>
      <p:sp>
        <p:nvSpPr>
          <p:cNvPr id="6" name="PlaceHolder 5"/>
          <p:cNvSpPr>
            <a:spLocks noGrp="1"/>
          </p:cNvSpPr>
          <p:nvPr>
            <p:ph type="sldNum" idx="8"/>
          </p:nvPr>
        </p:nvSpPr>
        <p:spPr/>
        <p:txBody>
          <a:bodyPr/>
          <a:lstStyle/>
          <a:p>
            <a:fld id="{4E7B32C4-CDA7-4FD3-A4D2-46A29C53A08E}" type="slidenum">
              <a:t>‹#›</a:t>
            </a:fld>
            <a:endParaRPr/>
          </a:p>
        </p:txBody>
      </p:sp>
      <p:sp>
        <p:nvSpPr>
          <p:cNvPr id="7" name="PlaceHolder 6"/>
          <p:cNvSpPr>
            <a:spLocks noGrp="1"/>
          </p:cNvSpPr>
          <p:nvPr>
            <p:ph type="dt" idx="9"/>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1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 name="PlaceHolder 6"/>
          <p:cNvSpPr>
            <a:spLocks noGrp="1"/>
          </p:cNvSpPr>
          <p:nvPr>
            <p:ph type="ftr" idx="7"/>
          </p:nvPr>
        </p:nvSpPr>
        <p:spPr/>
        <p:txBody>
          <a:bodyPr/>
          <a:lstStyle/>
          <a:p>
            <a:r>
              <a:t>Footer</a:t>
            </a:r>
          </a:p>
        </p:txBody>
      </p:sp>
      <p:sp>
        <p:nvSpPr>
          <p:cNvPr id="8" name="PlaceHolder 7"/>
          <p:cNvSpPr>
            <a:spLocks noGrp="1"/>
          </p:cNvSpPr>
          <p:nvPr>
            <p:ph type="sldNum" idx="8"/>
          </p:nvPr>
        </p:nvSpPr>
        <p:spPr/>
        <p:txBody>
          <a:bodyPr/>
          <a:lstStyle/>
          <a:p>
            <a:fld id="{4FF8854B-47CC-42EA-ADE2-3E2D72A4E538}" type="slidenum">
              <a:t>‹#›</a:t>
            </a:fld>
            <a:endParaRPr/>
          </a:p>
        </p:txBody>
      </p:sp>
      <p:sp>
        <p:nvSpPr>
          <p:cNvPr id="9" name="PlaceHolder 8"/>
          <p:cNvSpPr>
            <a:spLocks noGrp="1"/>
          </p:cNvSpPr>
          <p:nvPr>
            <p:ph type="dt" idx="9"/>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IN" sz="4400" b="0" strike="noStrike" spc="-1">
              <a:latin typeface="Arial"/>
            </a:endParaRPr>
          </a:p>
        </p:txBody>
      </p:sp>
      <p:sp>
        <p:nvSpPr>
          <p:cNvPr id="12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2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9" name="PlaceHolder 8"/>
          <p:cNvSpPr>
            <a:spLocks noGrp="1"/>
          </p:cNvSpPr>
          <p:nvPr>
            <p:ph type="ftr" idx="7"/>
          </p:nvPr>
        </p:nvSpPr>
        <p:spPr/>
        <p:txBody>
          <a:bodyPr/>
          <a:lstStyle/>
          <a:p>
            <a:r>
              <a:t>Footer</a:t>
            </a:r>
          </a:p>
        </p:txBody>
      </p:sp>
      <p:sp>
        <p:nvSpPr>
          <p:cNvPr id="10" name="PlaceHolder 9"/>
          <p:cNvSpPr>
            <a:spLocks noGrp="1"/>
          </p:cNvSpPr>
          <p:nvPr>
            <p:ph type="sldNum" idx="8"/>
          </p:nvPr>
        </p:nvSpPr>
        <p:spPr/>
        <p:txBody>
          <a:bodyPr/>
          <a:lstStyle/>
          <a:p>
            <a:fld id="{34F6F4A5-6D7F-4444-ACF4-5058D0FA6519}" type="slidenum">
              <a:t>‹#›</a:t>
            </a:fld>
            <a:endParaRPr/>
          </a:p>
        </p:txBody>
      </p:sp>
      <p:sp>
        <p:nvSpPr>
          <p:cNvPr id="11" name="PlaceHolder 10"/>
          <p:cNvSpPr>
            <a:spLocks noGrp="1"/>
          </p:cNvSpPr>
          <p:nvPr>
            <p:ph type="dt" idx="9"/>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Google Shape;20;p7"/>
          <p:cNvPicPr/>
          <p:nvPr/>
        </p:nvPicPr>
        <p:blipFill>
          <a:blip r:embed="rId14"/>
          <a:stretch/>
        </p:blipFill>
        <p:spPr>
          <a:xfrm>
            <a:off x="8814240" y="6185160"/>
            <a:ext cx="3224520" cy="672120"/>
          </a:xfrm>
          <a:prstGeom prst="rect">
            <a:avLst/>
          </a:prstGeom>
          <a:ln w="0">
            <a:noFill/>
          </a:ln>
        </p:spPr>
      </p:pic>
      <p:sp>
        <p:nvSpPr>
          <p:cNvPr id="7"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r>
              <a:rPr lang="en-IN" sz="1800" b="0" strike="noStrike" spc="-1">
                <a:latin typeface="Arial"/>
              </a:rPr>
              <a:t>Click to edit the title text format</a:t>
            </a:r>
          </a:p>
        </p:txBody>
      </p:sp>
      <p:sp>
        <p:nvSpPr>
          <p:cNvPr id="2" name="PlaceHolder 2"/>
          <p:cNvSpPr>
            <a:spLocks noGrp="1"/>
          </p:cNvSpPr>
          <p:nvPr>
            <p:ph type="ftr" idx="1"/>
          </p:nvPr>
        </p:nvSpPr>
        <p:spPr>
          <a:xfrm>
            <a:off x="4038480" y="6356520"/>
            <a:ext cx="4114080" cy="364320"/>
          </a:xfrm>
          <a:prstGeom prst="rect">
            <a:avLst/>
          </a:prstGeom>
          <a:noFill/>
          <a:ln w="0">
            <a:noFill/>
          </a:ln>
        </p:spPr>
        <p:txBody>
          <a:bodyPr lIns="90000" tIns="45000" rIns="90000" bIns="45000" anchor="ctr">
            <a:noAutofit/>
          </a:bodyPr>
          <a:lstStyle>
            <a:lvl1pPr algn="ctr">
              <a:lnSpc>
                <a:spcPct val="100000"/>
              </a:lnSpc>
              <a:buNone/>
              <a:defRPr lang="en-IN" sz="1400" b="0" strike="noStrike" spc="-1">
                <a:latin typeface="Times New Roman"/>
              </a:defRPr>
            </a:lvl1pPr>
          </a:lstStyle>
          <a:p>
            <a:pPr algn="ctr">
              <a:lnSpc>
                <a:spcPct val="100000"/>
              </a:lnSpc>
              <a:buNone/>
            </a:pPr>
            <a:r>
              <a:rPr lang="en-IN" sz="1400" b="0" strike="noStrike" spc="-1">
                <a:latin typeface="Times New Roman"/>
              </a:rPr>
              <a:t>&lt;footer&gt;</a:t>
            </a:r>
          </a:p>
        </p:txBody>
      </p:sp>
      <p:sp>
        <p:nvSpPr>
          <p:cNvPr id="3" name="PlaceHolder 3"/>
          <p:cNvSpPr>
            <a:spLocks noGrp="1"/>
          </p:cNvSpPr>
          <p:nvPr>
            <p:ph type="sldNum" idx="2"/>
          </p:nvPr>
        </p:nvSpPr>
        <p:spPr>
          <a:xfrm>
            <a:off x="8610480" y="6356520"/>
            <a:ext cx="2742480" cy="364320"/>
          </a:xfrm>
          <a:prstGeom prst="rect">
            <a:avLst/>
          </a:prstGeom>
          <a:noFill/>
          <a:ln w="0">
            <a:noFill/>
          </a:ln>
        </p:spPr>
        <p:txBody>
          <a:bodyPr lIns="90000" tIns="45000" rIns="90000" bIns="45000" anchor="ctr">
            <a:noAutofit/>
          </a:bodyPr>
          <a:lstStyle>
            <a:lvl1pPr algn="r">
              <a:lnSpc>
                <a:spcPct val="100000"/>
              </a:lnSpc>
              <a:buNone/>
              <a:tabLst>
                <a:tab pos="0" algn="l"/>
              </a:tabLst>
              <a:defRPr lang="en-IN" sz="1200" b="0" strike="noStrike" spc="-1">
                <a:solidFill>
                  <a:srgbClr val="888888"/>
                </a:solidFill>
                <a:latin typeface="Calibri"/>
                <a:ea typeface="Calibri"/>
              </a:defRPr>
            </a:lvl1pPr>
          </a:lstStyle>
          <a:p>
            <a:pPr algn="r">
              <a:lnSpc>
                <a:spcPct val="100000"/>
              </a:lnSpc>
              <a:buNone/>
              <a:tabLst>
                <a:tab pos="0" algn="l"/>
              </a:tabLst>
            </a:pPr>
            <a:fld id="{BC1A0823-A4A9-4D78-A1F1-ABC56A89A3BD}" type="slidenum">
              <a:rPr lang="en-IN" sz="1200" b="0" strike="noStrike" spc="-1">
                <a:solidFill>
                  <a:srgbClr val="888888"/>
                </a:solidFill>
                <a:latin typeface="Calibri"/>
                <a:ea typeface="Calibri"/>
              </a:rPr>
              <a:t>‹#›</a:t>
            </a:fld>
            <a:endParaRPr lang="en-IN" sz="1200" b="0" strike="noStrike" spc="-1">
              <a:latin typeface="Times New Roman"/>
            </a:endParaRPr>
          </a:p>
        </p:txBody>
      </p:sp>
      <p:sp>
        <p:nvSpPr>
          <p:cNvPr id="4" name="PlaceHolder 4"/>
          <p:cNvSpPr>
            <a:spLocks noGrp="1"/>
          </p:cNvSpPr>
          <p:nvPr>
            <p:ph type="dt" idx="3"/>
          </p:nvPr>
        </p:nvSpPr>
        <p:spPr>
          <a:xfrm>
            <a:off x="838080" y="6356520"/>
            <a:ext cx="2742480" cy="364320"/>
          </a:xfrm>
          <a:prstGeom prst="rect">
            <a:avLst/>
          </a:prstGeom>
          <a:noFill/>
          <a:ln w="0">
            <a:noFill/>
          </a:ln>
        </p:spPr>
        <p:txBody>
          <a:bodyPr lIns="90000" tIns="45000" rIns="90000" bIns="45000" anchor="ctr">
            <a:noAutofit/>
          </a:bodyPr>
          <a:lstStyle>
            <a:lvl1pPr>
              <a:defRPr lang="en-IN" sz="1400" b="0" strike="noStrike" spc="-1">
                <a:latin typeface="Times New Roman"/>
              </a:defRPr>
            </a:lvl1pPr>
          </a:lstStyle>
          <a:p>
            <a:r>
              <a:rPr lang="en-IN" sz="1400" b="0" strike="noStrike" spc="-1">
                <a:latin typeface="Times New Roman"/>
              </a:rPr>
              <a:t>&lt;date/time&gt;</a:t>
            </a: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Google Shape;32;p10"/>
          <p:cNvPicPr/>
          <p:nvPr/>
        </p:nvPicPr>
        <p:blipFill>
          <a:blip r:embed="rId14"/>
          <a:stretch/>
        </p:blipFill>
        <p:spPr>
          <a:xfrm>
            <a:off x="8814240" y="6185160"/>
            <a:ext cx="3224520" cy="672120"/>
          </a:xfrm>
          <a:prstGeom prst="rect">
            <a:avLst/>
          </a:prstGeom>
          <a:ln w="0">
            <a:noFill/>
          </a:ln>
        </p:spPr>
      </p:pic>
      <p:sp>
        <p:nvSpPr>
          <p:cNvPr id="43" name="PlaceHolder 1"/>
          <p:cNvSpPr>
            <a:spLocks noGrp="1"/>
          </p:cNvSpPr>
          <p:nvPr>
            <p:ph type="ftr" idx="4"/>
          </p:nvPr>
        </p:nvSpPr>
        <p:spPr>
          <a:xfrm>
            <a:off x="4038480" y="6356520"/>
            <a:ext cx="4114080" cy="364320"/>
          </a:xfrm>
          <a:prstGeom prst="rect">
            <a:avLst/>
          </a:prstGeom>
          <a:noFill/>
          <a:ln w="0">
            <a:noFill/>
          </a:ln>
        </p:spPr>
        <p:txBody>
          <a:bodyPr lIns="90000" tIns="45000" rIns="90000" bIns="45000" anchor="ctr">
            <a:noAutofit/>
          </a:bodyPr>
          <a:lstStyle>
            <a:lvl1pPr algn="ctr">
              <a:lnSpc>
                <a:spcPct val="100000"/>
              </a:lnSpc>
              <a:buNone/>
              <a:defRPr lang="en-IN" sz="1400" b="0" strike="noStrike" spc="-1">
                <a:latin typeface="Times New Roman"/>
              </a:defRPr>
            </a:lvl1pPr>
          </a:lstStyle>
          <a:p>
            <a:pPr algn="ctr">
              <a:lnSpc>
                <a:spcPct val="100000"/>
              </a:lnSpc>
              <a:buNone/>
            </a:pPr>
            <a:r>
              <a:rPr lang="en-IN" sz="1400" b="0" strike="noStrike" spc="-1">
                <a:latin typeface="Times New Roman"/>
              </a:rPr>
              <a:t>&lt;footer&gt;</a:t>
            </a:r>
          </a:p>
        </p:txBody>
      </p:sp>
      <p:sp>
        <p:nvSpPr>
          <p:cNvPr id="44" name="PlaceHolder 2"/>
          <p:cNvSpPr>
            <a:spLocks noGrp="1"/>
          </p:cNvSpPr>
          <p:nvPr>
            <p:ph type="sldNum" idx="5"/>
          </p:nvPr>
        </p:nvSpPr>
        <p:spPr>
          <a:xfrm>
            <a:off x="8610480" y="6356520"/>
            <a:ext cx="2742480" cy="364320"/>
          </a:xfrm>
          <a:prstGeom prst="rect">
            <a:avLst/>
          </a:prstGeom>
          <a:noFill/>
          <a:ln w="0">
            <a:noFill/>
          </a:ln>
        </p:spPr>
        <p:txBody>
          <a:bodyPr lIns="90000" tIns="45000" rIns="90000" bIns="45000" anchor="ctr">
            <a:noAutofit/>
          </a:bodyPr>
          <a:lstStyle>
            <a:lvl1pPr algn="r">
              <a:lnSpc>
                <a:spcPct val="100000"/>
              </a:lnSpc>
              <a:buNone/>
              <a:tabLst>
                <a:tab pos="0" algn="l"/>
              </a:tabLst>
              <a:defRPr lang="en-IN" sz="1200" b="0" strike="noStrike" spc="-1">
                <a:solidFill>
                  <a:srgbClr val="888888"/>
                </a:solidFill>
                <a:latin typeface="Calibri"/>
                <a:ea typeface="Calibri"/>
              </a:defRPr>
            </a:lvl1pPr>
          </a:lstStyle>
          <a:p>
            <a:pPr algn="r">
              <a:lnSpc>
                <a:spcPct val="100000"/>
              </a:lnSpc>
              <a:buNone/>
              <a:tabLst>
                <a:tab pos="0" algn="l"/>
              </a:tabLst>
            </a:pPr>
            <a:fld id="{03187C0B-5847-4B8F-A0C8-38E732A84B1E}" type="slidenum">
              <a:rPr lang="en-IN" sz="1200" b="0" strike="noStrike" spc="-1">
                <a:solidFill>
                  <a:srgbClr val="888888"/>
                </a:solidFill>
                <a:latin typeface="Calibri"/>
                <a:ea typeface="Calibri"/>
              </a:rPr>
              <a:t>‹#›</a:t>
            </a:fld>
            <a:endParaRPr lang="en-IN" sz="1200" b="0" strike="noStrike" spc="-1">
              <a:latin typeface="Times New Roman"/>
            </a:endParaRPr>
          </a:p>
        </p:txBody>
      </p:sp>
      <p:sp>
        <p:nvSpPr>
          <p:cNvPr id="45" name="PlaceHolder 3"/>
          <p:cNvSpPr>
            <a:spLocks noGrp="1"/>
          </p:cNvSpPr>
          <p:nvPr>
            <p:ph type="dt" idx="6"/>
          </p:nvPr>
        </p:nvSpPr>
        <p:spPr>
          <a:xfrm>
            <a:off x="838080" y="6356520"/>
            <a:ext cx="2742480" cy="364320"/>
          </a:xfrm>
          <a:prstGeom prst="rect">
            <a:avLst/>
          </a:prstGeom>
          <a:noFill/>
          <a:ln w="0">
            <a:noFill/>
          </a:ln>
        </p:spPr>
        <p:txBody>
          <a:bodyPr lIns="90000" tIns="45000" rIns="90000" bIns="45000" anchor="ctr">
            <a:noAutofit/>
          </a:bodyPr>
          <a:lstStyle>
            <a:lvl1pPr>
              <a:defRPr lang="en-IN" sz="1400" b="0" strike="noStrike" spc="-1">
                <a:latin typeface="Times New Roman"/>
              </a:defRPr>
            </a:lvl1pPr>
          </a:lstStyle>
          <a:p>
            <a:r>
              <a:rPr lang="en-IN" sz="1400" b="0" strike="noStrike" spc="-1">
                <a:latin typeface="Times New Roman"/>
              </a:rPr>
              <a:t>&lt;date/time&gt;</a:t>
            </a:r>
          </a:p>
        </p:txBody>
      </p:sp>
      <p:sp>
        <p:nvSpPr>
          <p:cNvPr id="4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IN" sz="4400" b="0" strike="noStrike" spc="-1">
                <a:latin typeface="Arial"/>
              </a:rPr>
              <a:t>Click to edit the title text format</a:t>
            </a:r>
          </a:p>
        </p:txBody>
      </p:sp>
      <p:sp>
        <p:nvSpPr>
          <p:cNvPr id="4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4" name="Google Shape;25;p9"/>
          <p:cNvPicPr/>
          <p:nvPr/>
        </p:nvPicPr>
        <p:blipFill>
          <a:blip r:embed="rId14"/>
          <a:stretch/>
        </p:blipFill>
        <p:spPr>
          <a:xfrm>
            <a:off x="8814240" y="6185160"/>
            <a:ext cx="3224520" cy="672120"/>
          </a:xfrm>
          <a:prstGeom prst="rect">
            <a:avLst/>
          </a:prstGeom>
          <a:ln w="0">
            <a:noFill/>
          </a:ln>
        </p:spPr>
      </p:pic>
      <p:sp>
        <p:nvSpPr>
          <p:cNvPr id="85" name="PlaceHolder 1"/>
          <p:cNvSpPr>
            <a:spLocks noGrp="1"/>
          </p:cNvSpPr>
          <p:nvPr>
            <p:ph type="ftr" idx="7"/>
          </p:nvPr>
        </p:nvSpPr>
        <p:spPr>
          <a:xfrm>
            <a:off x="4038480" y="6356520"/>
            <a:ext cx="4114080" cy="364320"/>
          </a:xfrm>
          <a:prstGeom prst="rect">
            <a:avLst/>
          </a:prstGeom>
          <a:noFill/>
          <a:ln w="0">
            <a:noFill/>
          </a:ln>
        </p:spPr>
        <p:txBody>
          <a:bodyPr lIns="90000" tIns="45000" rIns="90000" bIns="45000" anchor="ctr">
            <a:noAutofit/>
          </a:bodyPr>
          <a:lstStyle>
            <a:lvl1pPr algn="ctr">
              <a:lnSpc>
                <a:spcPct val="100000"/>
              </a:lnSpc>
              <a:buNone/>
              <a:defRPr lang="en-IN" sz="1400" b="0" strike="noStrike" spc="-1">
                <a:latin typeface="Times New Roman"/>
              </a:defRPr>
            </a:lvl1pPr>
          </a:lstStyle>
          <a:p>
            <a:pPr algn="ctr">
              <a:lnSpc>
                <a:spcPct val="100000"/>
              </a:lnSpc>
              <a:buNone/>
            </a:pPr>
            <a:r>
              <a:rPr lang="en-IN" sz="1400" b="0" strike="noStrike" spc="-1">
                <a:latin typeface="Times New Roman"/>
              </a:rPr>
              <a:t>&lt;footer&gt;</a:t>
            </a:r>
          </a:p>
        </p:txBody>
      </p:sp>
      <p:sp>
        <p:nvSpPr>
          <p:cNvPr id="86" name="PlaceHolder 2"/>
          <p:cNvSpPr>
            <a:spLocks noGrp="1"/>
          </p:cNvSpPr>
          <p:nvPr>
            <p:ph type="sldNum" idx="8"/>
          </p:nvPr>
        </p:nvSpPr>
        <p:spPr>
          <a:xfrm>
            <a:off x="8610480" y="6356520"/>
            <a:ext cx="2742480" cy="364320"/>
          </a:xfrm>
          <a:prstGeom prst="rect">
            <a:avLst/>
          </a:prstGeom>
          <a:noFill/>
          <a:ln w="0">
            <a:noFill/>
          </a:ln>
        </p:spPr>
        <p:txBody>
          <a:bodyPr lIns="90000" tIns="45000" rIns="90000" bIns="45000" anchor="ctr">
            <a:noAutofit/>
          </a:bodyPr>
          <a:lstStyle>
            <a:lvl1pPr algn="r">
              <a:lnSpc>
                <a:spcPct val="100000"/>
              </a:lnSpc>
              <a:buNone/>
              <a:tabLst>
                <a:tab pos="0" algn="l"/>
              </a:tabLst>
              <a:defRPr lang="en-IN" sz="1200" b="0" strike="noStrike" spc="-1">
                <a:solidFill>
                  <a:srgbClr val="888888"/>
                </a:solidFill>
                <a:latin typeface="Calibri"/>
                <a:ea typeface="Calibri"/>
              </a:defRPr>
            </a:lvl1pPr>
          </a:lstStyle>
          <a:p>
            <a:pPr algn="r">
              <a:lnSpc>
                <a:spcPct val="100000"/>
              </a:lnSpc>
              <a:buNone/>
              <a:tabLst>
                <a:tab pos="0" algn="l"/>
              </a:tabLst>
            </a:pPr>
            <a:fld id="{7C548949-CF70-4FDF-9CB4-CE4374C18840}" type="slidenum">
              <a:rPr lang="en-IN" sz="1200" b="0" strike="noStrike" spc="-1">
                <a:solidFill>
                  <a:srgbClr val="888888"/>
                </a:solidFill>
                <a:latin typeface="Calibri"/>
                <a:ea typeface="Calibri"/>
              </a:rPr>
              <a:t>‹#›</a:t>
            </a:fld>
            <a:endParaRPr lang="en-IN" sz="1200" b="0" strike="noStrike" spc="-1">
              <a:latin typeface="Times New Roman"/>
            </a:endParaRPr>
          </a:p>
        </p:txBody>
      </p:sp>
      <p:sp>
        <p:nvSpPr>
          <p:cNvPr id="87" name="PlaceHolder 3"/>
          <p:cNvSpPr>
            <a:spLocks noGrp="1"/>
          </p:cNvSpPr>
          <p:nvPr>
            <p:ph type="dt" idx="9"/>
          </p:nvPr>
        </p:nvSpPr>
        <p:spPr>
          <a:xfrm>
            <a:off x="838080" y="6356520"/>
            <a:ext cx="2742480" cy="364320"/>
          </a:xfrm>
          <a:prstGeom prst="rect">
            <a:avLst/>
          </a:prstGeom>
          <a:noFill/>
          <a:ln w="0">
            <a:noFill/>
          </a:ln>
        </p:spPr>
        <p:txBody>
          <a:bodyPr lIns="90000" tIns="45000" rIns="90000" bIns="45000" anchor="ctr">
            <a:noAutofit/>
          </a:bodyPr>
          <a:lstStyle>
            <a:lvl1pPr>
              <a:defRPr lang="en-IN" sz="1400" b="0" strike="noStrike" spc="-1">
                <a:latin typeface="Times New Roman"/>
              </a:defRPr>
            </a:lvl1pPr>
          </a:lstStyle>
          <a:p>
            <a:r>
              <a:rPr lang="en-IN" sz="1400" b="0" strike="noStrike" spc="-1">
                <a:latin typeface="Times New Roman"/>
              </a:rPr>
              <a:t>&lt;date/time&gt;</a:t>
            </a:r>
          </a:p>
        </p:txBody>
      </p:sp>
      <p:sp>
        <p:nvSpPr>
          <p:cNvPr id="8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IN" sz="4400" b="0" strike="noStrike" spc="-1">
                <a:latin typeface="Arial"/>
              </a:rPr>
              <a:t>Click to edit the title text format</a:t>
            </a:r>
          </a:p>
        </p:txBody>
      </p:sp>
      <p:sp>
        <p:nvSpPr>
          <p:cNvPr id="8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hyperlink" Target="http://www.linkedin.com/in/pagidi-akhila-077505305"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Google Shape;98;p1"/>
          <p:cNvPicPr/>
          <p:nvPr/>
        </p:nvPicPr>
        <p:blipFill>
          <a:blip r:embed="rId2"/>
          <a:stretch/>
        </p:blipFill>
        <p:spPr>
          <a:xfrm>
            <a:off x="1800" y="0"/>
            <a:ext cx="12189960" cy="6693480"/>
          </a:xfrm>
          <a:prstGeom prst="rect">
            <a:avLst/>
          </a:prstGeom>
          <a:ln w="0">
            <a:noFill/>
          </a:ln>
        </p:spPr>
      </p:pic>
      <p:sp>
        <p:nvSpPr>
          <p:cNvPr id="127" name="Google Shape;99;p1"/>
          <p:cNvSpPr/>
          <p:nvPr/>
        </p:nvSpPr>
        <p:spPr>
          <a:xfrm>
            <a:off x="2472840" y="3507120"/>
            <a:ext cx="7969680" cy="295320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tabLst>
                <a:tab pos="0" algn="l"/>
              </a:tabLst>
            </a:pPr>
            <a:endParaRPr lang="en-IN" sz="1800" b="0" strike="noStrike" spc="-1" dirty="0">
              <a:latin typeface="Arial"/>
            </a:endParaRPr>
          </a:p>
          <a:p>
            <a:pPr algn="ctr">
              <a:lnSpc>
                <a:spcPct val="100000"/>
              </a:lnSpc>
              <a:buNone/>
              <a:tabLst>
                <a:tab pos="0" algn="l"/>
              </a:tabLst>
            </a:pPr>
            <a:r>
              <a:rPr lang="en-IN" sz="3200" b="1" spc="-1" dirty="0">
                <a:solidFill>
                  <a:srgbClr val="000000"/>
                </a:solidFill>
                <a:latin typeface="Times New Roman"/>
                <a:ea typeface="Calibri"/>
              </a:rPr>
              <a:t>Digital Books Publishing Analytics</a:t>
            </a:r>
            <a:endParaRPr lang="en-IN" sz="3200" b="0" strike="noStrike" spc="-1" dirty="0">
              <a:latin typeface="Arial"/>
            </a:endParaRPr>
          </a:p>
          <a:p>
            <a:pPr algn="ctr">
              <a:lnSpc>
                <a:spcPct val="100000"/>
              </a:lnSpc>
              <a:buNone/>
              <a:tabLst>
                <a:tab pos="0" algn="l"/>
              </a:tabLst>
            </a:pPr>
            <a:endParaRPr lang="en-IN" sz="2800" b="0" strike="noStrike" spc="-1" dirty="0">
              <a:latin typeface="Arial"/>
            </a:endParaRPr>
          </a:p>
          <a:p>
            <a:pPr algn="ctr">
              <a:lnSpc>
                <a:spcPct val="100000"/>
              </a:lnSpc>
              <a:buNone/>
              <a:tabLst>
                <a:tab pos="0" algn="l"/>
              </a:tabLst>
            </a:pPr>
            <a:endParaRPr lang="en-IN" sz="2800" b="0" strike="noStrike" spc="-1" dirty="0">
              <a:latin typeface="Arial"/>
            </a:endParaRPr>
          </a:p>
          <a:p>
            <a:pPr algn="ctr">
              <a:lnSpc>
                <a:spcPct val="100000"/>
              </a:lnSpc>
              <a:buNone/>
              <a:tabLst>
                <a:tab pos="0" algn="l"/>
              </a:tabLst>
            </a:pPr>
            <a:r>
              <a:rPr lang="en-IN" sz="2800" b="0" strike="noStrike" spc="-1" dirty="0">
                <a:solidFill>
                  <a:srgbClr val="000000"/>
                </a:solidFill>
                <a:latin typeface="Calibri"/>
                <a:ea typeface="Calibri"/>
              </a:rPr>
              <a:t>                                                     </a:t>
            </a:r>
            <a:endParaRPr lang="en-IN" sz="2800" b="0" strike="noStrike" spc="-1" dirty="0">
              <a:latin typeface="Arial"/>
            </a:endParaRPr>
          </a:p>
          <a:p>
            <a:pPr algn="ctr">
              <a:lnSpc>
                <a:spcPct val="100000"/>
              </a:lnSpc>
              <a:buNone/>
              <a:tabLst>
                <a:tab pos="0" algn="l"/>
              </a:tabLst>
            </a:pPr>
            <a:r>
              <a:rPr lang="en-IN" sz="2800" b="1" strike="noStrike" spc="-1" dirty="0">
                <a:solidFill>
                  <a:srgbClr val="000000"/>
                </a:solidFill>
                <a:latin typeface="Times New Roman"/>
                <a:ea typeface="Calibri"/>
              </a:rPr>
              <a:t>                                     </a:t>
            </a:r>
            <a:r>
              <a:rPr lang="en-IN" sz="2400" b="1" strike="noStrike" spc="-1" dirty="0">
                <a:solidFill>
                  <a:srgbClr val="000000"/>
                </a:solidFill>
                <a:latin typeface="Times New Roman"/>
                <a:ea typeface="Calibri"/>
              </a:rPr>
              <a:t>AKHILA PAGIDI</a:t>
            </a:r>
            <a:endParaRPr lang="en-IN" sz="2400" b="0" strike="noStrike" spc="-1" dirty="0">
              <a:latin typeface="Arial"/>
            </a:endParaRPr>
          </a:p>
          <a:p>
            <a:pPr algn="ctr">
              <a:lnSpc>
                <a:spcPct val="100000"/>
              </a:lnSpc>
              <a:buNone/>
              <a:tabLst>
                <a:tab pos="0" algn="l"/>
              </a:tabLst>
            </a:pPr>
            <a:r>
              <a:rPr lang="en-IN" sz="2400" b="1" strike="noStrike" spc="-1" dirty="0">
                <a:solidFill>
                  <a:srgbClr val="000000"/>
                </a:solidFill>
                <a:latin typeface="Times New Roman"/>
                <a:ea typeface="Calibri"/>
              </a:rPr>
              <a:t>                              Batch-543</a:t>
            </a:r>
            <a:endParaRPr lang="en-IN" sz="24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3"/>
          <p:cNvSpPr txBox="1"/>
          <p:nvPr/>
        </p:nvSpPr>
        <p:spPr>
          <a:xfrm>
            <a:off x="720000" y="360000"/>
            <a:ext cx="10514880" cy="1324800"/>
          </a:xfrm>
          <a:prstGeom prst="rect">
            <a:avLst/>
          </a:prstGeom>
          <a:noFill/>
          <a:ln w="0">
            <a:noFill/>
          </a:ln>
        </p:spPr>
        <p:txBody>
          <a:bodyPr lIns="90000" tIns="45000" rIns="90000" bIns="45000" anchor="ctr">
            <a:noAutofit/>
          </a:bodyPr>
          <a:lstStyle/>
          <a:p>
            <a:pPr>
              <a:lnSpc>
                <a:spcPct val="90000"/>
              </a:lnSpc>
              <a:buNone/>
            </a:pPr>
            <a:r>
              <a:rPr lang="en-IN" sz="4400" b="0" strike="noStrike" spc="-1">
                <a:solidFill>
                  <a:srgbClr val="FF0000"/>
                </a:solidFill>
                <a:latin typeface="Calibri"/>
                <a:ea typeface="Calibri"/>
              </a:rPr>
              <a:t>About me</a:t>
            </a:r>
            <a:endParaRPr lang="en-IN" sz="4400" b="0" strike="noStrike" spc="-1">
              <a:latin typeface="Arial"/>
            </a:endParaRPr>
          </a:p>
        </p:txBody>
      </p:sp>
      <p:sp>
        <p:nvSpPr>
          <p:cNvPr id="129" name="TextBox 128"/>
          <p:cNvSpPr txBox="1"/>
          <p:nvPr/>
        </p:nvSpPr>
        <p:spPr>
          <a:xfrm>
            <a:off x="550800" y="1553497"/>
            <a:ext cx="11329200" cy="4271663"/>
          </a:xfrm>
          <a:prstGeom prst="rect">
            <a:avLst/>
          </a:prstGeom>
          <a:noFill/>
          <a:ln w="0">
            <a:noFill/>
          </a:ln>
        </p:spPr>
        <p:txBody>
          <a:bodyPr lIns="90000" tIns="45000" rIns="90000" bIns="45000" anchor="t">
            <a:noAutofit/>
          </a:bodyPr>
          <a:lstStyle/>
          <a:p>
            <a:pPr>
              <a:lnSpc>
                <a:spcPct val="150000"/>
              </a:lnSpc>
            </a:pPr>
            <a:r>
              <a:rPr lang="en-US" sz="2200" b="1" strike="noStrike" spc="-1" dirty="0" err="1">
                <a:solidFill>
                  <a:srgbClr val="000000"/>
                </a:solidFill>
                <a:latin typeface="Times New Roman" panose="02020603050405020304" pitchFamily="18" charset="0"/>
                <a:ea typeface="Calibri"/>
                <a:cs typeface="Times New Roman" panose="02020603050405020304" pitchFamily="18" charset="0"/>
              </a:rPr>
              <a:t>Background:</a:t>
            </a:r>
            <a:r>
              <a:rPr lang="en-US" sz="2200" b="0" strike="noStrike" spc="-1" dirty="0" err="1">
                <a:solidFill>
                  <a:srgbClr val="000000"/>
                </a:solidFill>
                <a:latin typeface="Times New Roman" panose="02020603050405020304" pitchFamily="18" charset="0"/>
                <a:ea typeface="Calibri"/>
                <a:cs typeface="Times New Roman" panose="02020603050405020304" pitchFamily="18" charset="0"/>
              </a:rPr>
              <a:t>I</a:t>
            </a:r>
            <a:r>
              <a:rPr lang="en-US" sz="2200" b="0" strike="noStrike" spc="-1" dirty="0">
                <a:solidFill>
                  <a:srgbClr val="000000"/>
                </a:solidFill>
                <a:latin typeface="Times New Roman" panose="02020603050405020304" pitchFamily="18" charset="0"/>
                <a:ea typeface="Calibri"/>
                <a:cs typeface="Times New Roman" panose="02020603050405020304" pitchFamily="18" charset="0"/>
              </a:rPr>
              <a:t> did my Bachelor’s in Electronics and communication Engineering from Rajiv Gandhi University of Knowledge Technologies. </a:t>
            </a:r>
            <a:endParaRPr lang="en-IN" sz="2200" b="0" strike="noStrike" spc="-1" dirty="0">
              <a:latin typeface="Times New Roman" panose="02020603050405020304" pitchFamily="18" charset="0"/>
              <a:cs typeface="Times New Roman" panose="02020603050405020304" pitchFamily="18" charset="0"/>
            </a:endParaRPr>
          </a:p>
          <a:p>
            <a:pPr>
              <a:lnSpc>
                <a:spcPct val="150000"/>
              </a:lnSpc>
              <a:buNone/>
            </a:pPr>
            <a:r>
              <a:rPr lang="en-US" sz="2200" b="1" strike="noStrike" spc="-1" dirty="0">
                <a:solidFill>
                  <a:srgbClr val="000000"/>
                </a:solidFill>
                <a:latin typeface="Times New Roman" panose="02020603050405020304" pitchFamily="18" charset="0"/>
                <a:ea typeface="Calibri"/>
                <a:cs typeface="Times New Roman" panose="02020603050405020304" pitchFamily="18" charset="0"/>
              </a:rPr>
              <a:t>Why do you want to learn </a:t>
            </a:r>
            <a:r>
              <a:rPr lang="en-US" sz="2200" b="1" strike="noStrike" spc="-1" dirty="0" err="1">
                <a:solidFill>
                  <a:srgbClr val="000000"/>
                </a:solidFill>
                <a:latin typeface="Times New Roman" panose="02020603050405020304" pitchFamily="18" charset="0"/>
                <a:ea typeface="Calibri"/>
                <a:cs typeface="Times New Roman" panose="02020603050405020304" pitchFamily="18" charset="0"/>
              </a:rPr>
              <a:t>Datascience</a:t>
            </a:r>
            <a:r>
              <a:rPr lang="en-US" sz="2200" b="1" strike="noStrike" spc="-1" dirty="0">
                <a:solidFill>
                  <a:srgbClr val="000000"/>
                </a:solidFill>
                <a:latin typeface="Times New Roman" panose="02020603050405020304" pitchFamily="18" charset="0"/>
                <a:ea typeface="Calibri"/>
                <a:cs typeface="Times New Roman" panose="02020603050405020304" pitchFamily="18" charset="0"/>
              </a:rPr>
              <a:t>?:</a:t>
            </a:r>
            <a:r>
              <a:rPr lang="en-US" sz="2200" b="0" strike="noStrike" spc="-1" dirty="0">
                <a:solidFill>
                  <a:srgbClr val="000000"/>
                </a:solidFill>
                <a:latin typeface="Times New Roman" panose="02020603050405020304" pitchFamily="18" charset="0"/>
                <a:ea typeface="Calibri"/>
                <a:cs typeface="Times New Roman" panose="02020603050405020304" pitchFamily="18" charset="0"/>
              </a:rPr>
              <a:t>Taking information and turning it into a real answer or a decision that helps businesses is what I take interest in, and that paved the way for learning </a:t>
            </a:r>
            <a:r>
              <a:rPr lang="en-US" sz="2200" b="0" strike="noStrike" spc="-1" dirty="0" err="1">
                <a:solidFill>
                  <a:srgbClr val="000000"/>
                </a:solidFill>
                <a:latin typeface="Times New Roman" panose="02020603050405020304" pitchFamily="18" charset="0"/>
                <a:ea typeface="Calibri"/>
                <a:cs typeface="Times New Roman" panose="02020603050405020304" pitchFamily="18" charset="0"/>
              </a:rPr>
              <a:t>Datascience</a:t>
            </a:r>
            <a:r>
              <a:rPr lang="en-US" sz="2200" b="0" strike="noStrike" spc="-1" dirty="0">
                <a:solidFill>
                  <a:srgbClr val="000000"/>
                </a:solidFill>
                <a:latin typeface="Times New Roman" panose="02020603050405020304" pitchFamily="18" charset="0"/>
                <a:ea typeface="Calibri"/>
                <a:cs typeface="Times New Roman" panose="02020603050405020304" pitchFamily="18" charset="0"/>
              </a:rPr>
              <a:t>.</a:t>
            </a:r>
            <a:endParaRPr lang="en-IN" sz="2200" b="0" strike="noStrike" spc="-1" dirty="0">
              <a:latin typeface="Times New Roman" panose="02020603050405020304" pitchFamily="18" charset="0"/>
              <a:cs typeface="Times New Roman" panose="02020603050405020304" pitchFamily="18" charset="0"/>
            </a:endParaRPr>
          </a:p>
          <a:p>
            <a:pPr>
              <a:lnSpc>
                <a:spcPct val="150000"/>
              </a:lnSpc>
              <a:buNone/>
            </a:pPr>
            <a:r>
              <a:rPr lang="en-US" sz="2200" b="1" strike="noStrike" spc="-1" dirty="0">
                <a:solidFill>
                  <a:srgbClr val="000000"/>
                </a:solidFill>
                <a:latin typeface="Times New Roman" panose="02020603050405020304" pitchFamily="18" charset="0"/>
                <a:ea typeface="Calibri"/>
                <a:cs typeface="Times New Roman" panose="02020603050405020304" pitchFamily="18" charset="0"/>
              </a:rPr>
              <a:t>Profile URLs:</a:t>
            </a:r>
            <a:endParaRPr lang="en-IN" sz="2200" b="0" strike="noStrike" spc="-1" dirty="0">
              <a:latin typeface="Times New Roman" panose="02020603050405020304" pitchFamily="18" charset="0"/>
              <a:cs typeface="Times New Roman" panose="02020603050405020304" pitchFamily="18" charset="0"/>
            </a:endParaRPr>
          </a:p>
          <a:p>
            <a:pPr>
              <a:lnSpc>
                <a:spcPct val="150000"/>
              </a:lnSpc>
              <a:buNone/>
            </a:pPr>
            <a:r>
              <a:rPr lang="en-US" sz="2200" b="1"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b="1" strike="noStrike" spc="-1" dirty="0" err="1">
                <a:solidFill>
                  <a:srgbClr val="000000"/>
                </a:solidFill>
                <a:latin typeface="Times New Roman" panose="02020603050405020304" pitchFamily="18" charset="0"/>
                <a:ea typeface="Calibri"/>
                <a:cs typeface="Times New Roman" panose="02020603050405020304" pitchFamily="18" charset="0"/>
              </a:rPr>
              <a:t>Linkedin:</a:t>
            </a:r>
            <a:r>
              <a:rPr lang="en-US" sz="2200" b="0" strike="noStrike" spc="-1" dirty="0" err="1">
                <a:solidFill>
                  <a:srgbClr val="000000"/>
                </a:solidFill>
                <a:latin typeface="Times New Roman" panose="02020603050405020304" pitchFamily="18" charset="0"/>
                <a:ea typeface="Calibri"/>
                <a:cs typeface="Times New Roman" panose="02020603050405020304" pitchFamily="18" charset="0"/>
                <a:hlinkClick r:id="rId2"/>
              </a:rPr>
              <a:t>www.linkedin.com</a:t>
            </a:r>
            <a:r>
              <a:rPr lang="en-US" sz="2200" b="0" strike="noStrike" spc="-1" dirty="0">
                <a:solidFill>
                  <a:srgbClr val="000000"/>
                </a:solidFill>
                <a:latin typeface="Times New Roman" panose="02020603050405020304" pitchFamily="18" charset="0"/>
                <a:ea typeface="Calibri"/>
                <a:cs typeface="Times New Roman" panose="02020603050405020304" pitchFamily="18" charset="0"/>
                <a:hlinkClick r:id="rId2"/>
              </a:rPr>
              <a:t>/in/pagidi-akhila-077505305</a:t>
            </a:r>
            <a:endParaRPr lang="en-IN" sz="2200" b="0" strike="noStrike" spc="-1" dirty="0">
              <a:latin typeface="Times New Roman" panose="02020603050405020304" pitchFamily="18" charset="0"/>
              <a:cs typeface="Times New Roman" panose="02020603050405020304" pitchFamily="18" charset="0"/>
            </a:endParaRPr>
          </a:p>
          <a:p>
            <a:pPr>
              <a:lnSpc>
                <a:spcPct val="150000"/>
              </a:lnSpc>
              <a:buNone/>
            </a:pPr>
            <a:r>
              <a:rPr lang="en-US" sz="2200" b="0" strike="noStrike" spc="-1" dirty="0">
                <a:solidFill>
                  <a:srgbClr val="000000"/>
                </a:solidFill>
                <a:latin typeface="Times New Roman" panose="02020603050405020304" pitchFamily="18" charset="0"/>
                <a:ea typeface="Calibri"/>
                <a:cs typeface="Times New Roman" panose="02020603050405020304" pitchFamily="18" charset="0"/>
              </a:rPr>
              <a:t>	</a:t>
            </a:r>
            <a:r>
              <a:rPr lang="en-US" sz="2200" b="1" strike="noStrike" spc="-1" dirty="0" err="1">
                <a:solidFill>
                  <a:srgbClr val="000000"/>
                </a:solidFill>
                <a:latin typeface="Times New Roman" panose="02020603050405020304" pitchFamily="18" charset="0"/>
                <a:ea typeface="Calibri"/>
                <a:cs typeface="Times New Roman" panose="02020603050405020304" pitchFamily="18" charset="0"/>
              </a:rPr>
              <a:t>Github:</a:t>
            </a:r>
            <a:r>
              <a:rPr lang="en-US" sz="2200" b="0" strike="noStrike" spc="-1" dirty="0" err="1">
                <a:solidFill>
                  <a:srgbClr val="000000"/>
                </a:solidFill>
                <a:latin typeface="Times New Roman" panose="02020603050405020304" pitchFamily="18" charset="0"/>
                <a:ea typeface="Calibri"/>
                <a:cs typeface="Times New Roman" panose="02020603050405020304" pitchFamily="18" charset="0"/>
              </a:rPr>
              <a:t>https</a:t>
            </a:r>
            <a:r>
              <a:rPr lang="en-US" sz="2200" b="0" strike="noStrike" spc="-1" dirty="0">
                <a:solidFill>
                  <a:srgbClr val="000000"/>
                </a:solidFill>
                <a:latin typeface="Times New Roman" panose="02020603050405020304" pitchFamily="18" charset="0"/>
                <a:ea typeface="Calibri"/>
                <a:cs typeface="Times New Roman" panose="02020603050405020304" pitchFamily="18" charset="0"/>
              </a:rPr>
              <a:t>://github.com/</a:t>
            </a:r>
            <a:r>
              <a:rPr lang="en-US" sz="2200" b="0" strike="noStrike" spc="-1" dirty="0" err="1">
                <a:solidFill>
                  <a:srgbClr val="000000"/>
                </a:solidFill>
                <a:latin typeface="Times New Roman" panose="02020603050405020304" pitchFamily="18" charset="0"/>
                <a:ea typeface="Calibri"/>
                <a:cs typeface="Times New Roman" panose="02020603050405020304" pitchFamily="18" charset="0"/>
              </a:rPr>
              <a:t>akhilaPagidi</a:t>
            </a:r>
            <a:endParaRPr lang="en-IN" sz="2200" b="0" strike="noStrike" spc="-1" dirty="0">
              <a:latin typeface="Times New Roman" panose="02020603050405020304" pitchFamily="18" charset="0"/>
              <a:cs typeface="Times New Roman" panose="02020603050405020304" pitchFamily="18" charset="0"/>
            </a:endParaRPr>
          </a:p>
          <a:p>
            <a:pPr>
              <a:lnSpc>
                <a:spcPct val="100000"/>
              </a:lnSpc>
              <a:buNone/>
            </a:pPr>
            <a:endParaRPr lang="en-IN" sz="2800" b="0" strike="noStrike" spc="-1" dirty="0">
              <a:latin typeface="Arial"/>
            </a:endParaRPr>
          </a:p>
          <a:p>
            <a:pPr>
              <a:lnSpc>
                <a:spcPct val="100000"/>
              </a:lnSpc>
              <a:buNone/>
            </a:pPr>
            <a:endParaRPr lang="en-IN" sz="2800" b="0" strike="noStrike"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720000" y="360000"/>
            <a:ext cx="10514880" cy="1324800"/>
          </a:xfrm>
          <a:prstGeom prst="rect">
            <a:avLst/>
          </a:prstGeom>
          <a:noFill/>
          <a:ln w="0">
            <a:noFill/>
          </a:ln>
        </p:spPr>
        <p:txBody>
          <a:bodyPr lIns="90000" tIns="45000" rIns="90000" bIns="45000" anchor="ctr">
            <a:noAutofit/>
          </a:bodyPr>
          <a:lstStyle/>
          <a:p>
            <a:pPr>
              <a:lnSpc>
                <a:spcPct val="90000"/>
              </a:lnSpc>
              <a:buNone/>
            </a:pPr>
            <a:r>
              <a:rPr lang="en-IN" sz="4400" b="1" strike="noStrike" spc="-1" dirty="0">
                <a:solidFill>
                  <a:srgbClr val="FF0000"/>
                </a:solidFill>
                <a:latin typeface="Calibri"/>
                <a:ea typeface="Calibri"/>
              </a:rPr>
              <a:t>Agenda</a:t>
            </a:r>
            <a:endParaRPr lang="en-IN" sz="4400" b="0" strike="noStrike" spc="-1" dirty="0">
              <a:latin typeface="Arial"/>
            </a:endParaRPr>
          </a:p>
        </p:txBody>
      </p:sp>
      <p:sp>
        <p:nvSpPr>
          <p:cNvPr id="131" name="PlaceHolder 2"/>
          <p:cNvSpPr>
            <a:spLocks noGrp="1"/>
          </p:cNvSpPr>
          <p:nvPr>
            <p:ph/>
          </p:nvPr>
        </p:nvSpPr>
        <p:spPr>
          <a:xfrm>
            <a:off x="838080" y="1445342"/>
            <a:ext cx="10514880" cy="5171768"/>
          </a:xfrm>
          <a:prstGeom prst="rect">
            <a:avLst/>
          </a:prstGeom>
          <a:noFill/>
          <a:ln w="0">
            <a:noFill/>
          </a:ln>
        </p:spPr>
        <p:txBody>
          <a:bodyPr lIns="90000" tIns="45000" rIns="90000" bIns="45000" anchor="t">
            <a:noAutofit/>
          </a:bodyPr>
          <a:lstStyle/>
          <a:p>
            <a:pPr marL="457200" indent="-343080">
              <a:lnSpc>
                <a:spcPct val="150000"/>
              </a:lnSpc>
              <a:buClr>
                <a:srgbClr val="000000"/>
              </a:buClr>
              <a:buSzPts val="2400"/>
              <a:buFont typeface="Arial"/>
              <a:buChar char="•"/>
            </a:pPr>
            <a:r>
              <a:rPr lang="en-IN" altLang="en-US" sz="1800" dirty="0">
                <a:cs typeface="+mn-lt"/>
              </a:rPr>
              <a:t>Business Problem</a:t>
            </a:r>
          </a:p>
          <a:p>
            <a:pPr marL="457200" indent="-343080">
              <a:lnSpc>
                <a:spcPct val="150000"/>
              </a:lnSpc>
              <a:buClr>
                <a:srgbClr val="000000"/>
              </a:buClr>
              <a:buSzPts val="2400"/>
              <a:buFont typeface="Arial"/>
              <a:buChar char="•"/>
            </a:pPr>
            <a:r>
              <a:rPr lang="en-IN" altLang="en-US" sz="1800" dirty="0">
                <a:cs typeface="+mn-lt"/>
              </a:rPr>
              <a:t>Business Statement</a:t>
            </a:r>
          </a:p>
          <a:p>
            <a:pPr marL="457200" indent="-343080">
              <a:lnSpc>
                <a:spcPct val="150000"/>
              </a:lnSpc>
              <a:buClr>
                <a:srgbClr val="000000"/>
              </a:buClr>
              <a:buSzPts val="2400"/>
              <a:buFont typeface="Arial"/>
              <a:buChar char="•"/>
            </a:pPr>
            <a:r>
              <a:rPr lang="en-IN" altLang="en-US" sz="1800" dirty="0">
                <a:cs typeface="+mn-lt"/>
              </a:rPr>
              <a:t>Introduction</a:t>
            </a:r>
          </a:p>
          <a:p>
            <a:pPr marL="457200" indent="-343080">
              <a:lnSpc>
                <a:spcPct val="150000"/>
              </a:lnSpc>
              <a:buClr>
                <a:srgbClr val="000000"/>
              </a:buClr>
              <a:buSzPts val="2400"/>
              <a:buFont typeface="Arial"/>
              <a:buChar char="•"/>
            </a:pPr>
            <a:r>
              <a:rPr lang="en-IN" altLang="en-US" sz="1800" dirty="0">
                <a:cs typeface="+mn-lt"/>
              </a:rPr>
              <a:t>Data Overview</a:t>
            </a:r>
          </a:p>
          <a:p>
            <a:pPr marL="457200" indent="-343080">
              <a:lnSpc>
                <a:spcPct val="150000"/>
              </a:lnSpc>
              <a:buClr>
                <a:srgbClr val="000000"/>
              </a:buClr>
              <a:buSzPts val="2400"/>
              <a:buFont typeface="Arial"/>
              <a:buChar char="•"/>
            </a:pPr>
            <a:r>
              <a:rPr lang="en-IN" altLang="en-US" sz="1800" dirty="0" err="1">
                <a:cs typeface="+mn-lt"/>
              </a:rPr>
              <a:t>DataFrame</a:t>
            </a:r>
            <a:endParaRPr lang="en-IN" altLang="en-US" sz="1800" dirty="0">
              <a:cs typeface="+mn-lt"/>
            </a:endParaRPr>
          </a:p>
          <a:p>
            <a:pPr marL="457200" indent="-343080">
              <a:lnSpc>
                <a:spcPct val="150000"/>
              </a:lnSpc>
              <a:buClr>
                <a:srgbClr val="000000"/>
              </a:buClr>
              <a:buSzPts val="2400"/>
              <a:buFont typeface="Arial"/>
              <a:buChar char="•"/>
            </a:pPr>
            <a:r>
              <a:rPr lang="en-IN" altLang="en-US" sz="1800" dirty="0">
                <a:cs typeface="+mn-lt"/>
              </a:rPr>
              <a:t>Key analysis questions and insights</a:t>
            </a:r>
          </a:p>
          <a:p>
            <a:pPr marL="457200" indent="-343080">
              <a:lnSpc>
                <a:spcPct val="150000"/>
              </a:lnSpc>
              <a:buClr>
                <a:srgbClr val="000000"/>
              </a:buClr>
              <a:buSzPts val="2400"/>
              <a:buFont typeface="Arial"/>
              <a:buChar char="•"/>
            </a:pPr>
            <a:r>
              <a:rPr lang="en-IN" altLang="en-US" sz="1800" dirty="0">
                <a:cs typeface="+mn-lt"/>
              </a:rPr>
              <a:t>Recommendations</a:t>
            </a:r>
          </a:p>
          <a:p>
            <a:pPr marL="457200" indent="-343080">
              <a:lnSpc>
                <a:spcPct val="150000"/>
              </a:lnSpc>
              <a:buClr>
                <a:srgbClr val="000000"/>
              </a:buClr>
              <a:buSzPts val="2400"/>
              <a:buFont typeface="Arial"/>
              <a:buChar char="•"/>
            </a:pPr>
            <a:r>
              <a:rPr lang="en-IN" altLang="en-US" sz="1800" dirty="0">
                <a:cs typeface="+mn-lt"/>
              </a:rPr>
              <a:t>Conclusion</a:t>
            </a:r>
          </a:p>
          <a:p>
            <a:pPr marL="457200" indent="-343080">
              <a:lnSpc>
                <a:spcPct val="150000"/>
              </a:lnSpc>
              <a:buClr>
                <a:srgbClr val="000000"/>
              </a:buClr>
              <a:buSzPts val="2400"/>
              <a:buFont typeface="Arial"/>
              <a:buChar char="•"/>
            </a:pPr>
            <a:r>
              <a:rPr lang="en-IN" altLang="en-US" sz="1800" dirty="0">
                <a:cs typeface="+mn-lt"/>
              </a:rPr>
              <a:t>Experience &amp; challenges while working</a:t>
            </a:r>
          </a:p>
          <a:p>
            <a:pPr marL="114120" indent="0">
              <a:buClr>
                <a:srgbClr val="000000"/>
              </a:buClr>
              <a:buSzPts val="2400"/>
              <a:buNone/>
            </a:pPr>
            <a:endParaRPr lang="en-IN" altLang="en-US" sz="1800" dirty="0">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Google Shape;105;p3"/>
          <p:cNvSpPr/>
          <p:nvPr/>
        </p:nvSpPr>
        <p:spPr>
          <a:xfrm>
            <a:off x="381240" y="540000"/>
            <a:ext cx="6098760" cy="4848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IN" sz="3200" b="0" strike="noStrike" spc="-1" dirty="0">
                <a:solidFill>
                  <a:srgbClr val="FF0000"/>
                </a:solidFill>
                <a:latin typeface="Times New Roman"/>
                <a:ea typeface="Lato Black"/>
              </a:rPr>
              <a:t>  Business Problem</a:t>
            </a:r>
            <a:endParaRPr lang="en-IN" sz="3200" b="0" strike="noStrike" spc="-1" dirty="0">
              <a:latin typeface="Arial"/>
            </a:endParaRPr>
          </a:p>
        </p:txBody>
      </p:sp>
      <p:sp>
        <p:nvSpPr>
          <p:cNvPr id="133" name="PlaceHolder 1"/>
          <p:cNvSpPr>
            <a:spLocks noGrp="1"/>
          </p:cNvSpPr>
          <p:nvPr>
            <p:ph type="title"/>
          </p:nvPr>
        </p:nvSpPr>
        <p:spPr>
          <a:xfrm>
            <a:off x="720000" y="1307690"/>
            <a:ext cx="10797480" cy="2651950"/>
          </a:xfrm>
          <a:prstGeom prst="rect">
            <a:avLst/>
          </a:prstGeom>
          <a:noFill/>
          <a:ln w="0">
            <a:noFill/>
          </a:ln>
        </p:spPr>
        <p:txBody>
          <a:bodyPr lIns="0" tIns="0" rIns="0" bIns="0" anchor="t">
            <a:noAutofit/>
          </a:bodyPr>
          <a:lstStyle/>
          <a:p>
            <a:pPr>
              <a:lnSpc>
                <a:spcPct val="150000"/>
              </a:lnSpc>
            </a:pPr>
            <a:r>
              <a:rPr lang="en-IN" sz="2000" dirty="0">
                <a:latin typeface="Times New Roman" panose="02020603050405020304" pitchFamily="18" charset="0"/>
                <a:cs typeface="Times New Roman" panose="02020603050405020304" pitchFamily="18" charset="0"/>
              </a:rPr>
              <a:t>Goodreads contains a large collection of books with information such as ratings, number of ratings, authors, pages, formats, genres, publication dates, list scores and votes. However, this information is spread across web pages, making direct comparison and analysis difficult. Readers need to identify books that offer strong ratings and popularity while comparing factors such as ratings, reviews, pages, format and genre. Authors and publishers can benefit from understanding how books perform in terms of reader ratings and popularity. At the same time, Goodreads can use such patterns to improve book discovery and recommendations. </a:t>
            </a:r>
            <a:r>
              <a:rPr lang="en-IN" sz="2000" b="1" dirty="0">
                <a:latin typeface="Times New Roman" panose="02020603050405020304" pitchFamily="18" charset="0"/>
                <a:cs typeface="Times New Roman" panose="02020603050405020304" pitchFamily="18" charset="0"/>
              </a:rPr>
              <a:t>The core business problem, therefore, is to move from individual book listings to a structured understanding of book popularity, ratings, formats, genres and publication trends through web scraping and data analysis.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additive="repl">
                                        <p:cTn id="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Google Shape;105;p3"/>
          <p:cNvSpPr/>
          <p:nvPr/>
        </p:nvSpPr>
        <p:spPr>
          <a:xfrm>
            <a:off x="427680" y="600480"/>
            <a:ext cx="6098760" cy="4848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IN" sz="3200" b="0" strike="noStrike" spc="-1" dirty="0">
                <a:solidFill>
                  <a:srgbClr val="FF0000"/>
                </a:solidFill>
                <a:latin typeface="Times New Roman"/>
                <a:ea typeface="Lato Black"/>
              </a:rPr>
              <a:t> Business Statement</a:t>
            </a:r>
            <a:endParaRPr lang="en-IN" sz="3200" b="0" strike="noStrike" spc="-1" dirty="0">
              <a:latin typeface="Arial"/>
            </a:endParaRPr>
          </a:p>
        </p:txBody>
      </p:sp>
      <p:sp>
        <p:nvSpPr>
          <p:cNvPr id="135" name="PlaceHolder 1"/>
          <p:cNvSpPr>
            <a:spLocks noGrp="1"/>
          </p:cNvSpPr>
          <p:nvPr>
            <p:ph/>
          </p:nvPr>
        </p:nvSpPr>
        <p:spPr>
          <a:xfrm>
            <a:off x="427680" y="1397520"/>
            <a:ext cx="10912320" cy="4542480"/>
          </a:xfrm>
          <a:prstGeom prst="rect">
            <a:avLst/>
          </a:prstGeom>
          <a:noFill/>
          <a:ln w="0">
            <a:noFill/>
          </a:ln>
        </p:spPr>
        <p:txBody>
          <a:bodyPr lIns="90000" tIns="45000" rIns="90000" bIns="45000" anchor="t">
            <a:normAutofit/>
          </a:bodyPr>
          <a:lstStyle/>
          <a:p>
            <a:pPr algn="just">
              <a:lnSpc>
                <a:spcPct val="150000"/>
              </a:lnSpc>
              <a:spcBef>
                <a:spcPts val="1001"/>
              </a:spcBef>
              <a:buNone/>
            </a:pPr>
            <a:r>
              <a:rPr lang="en-IN" sz="2000" dirty="0">
                <a:latin typeface="Times New Roman" panose="02020603050405020304" pitchFamily="18" charset="0"/>
                <a:cs typeface="Times New Roman" panose="02020603050405020304" pitchFamily="18" charset="0"/>
              </a:rPr>
              <a:t>   The project aims to </a:t>
            </a:r>
            <a:r>
              <a:rPr lang="en-IN" sz="2000" b="1" dirty="0">
                <a:latin typeface="Times New Roman" panose="02020603050405020304" pitchFamily="18" charset="0"/>
                <a:cs typeface="Times New Roman" panose="02020603050405020304" pitchFamily="18" charset="0"/>
              </a:rPr>
              <a:t>collect and </a:t>
            </a:r>
            <a:r>
              <a:rPr lang="en-IN" sz="2000" b="1" dirty="0" err="1">
                <a:latin typeface="Times New Roman" panose="02020603050405020304" pitchFamily="18" charset="0"/>
                <a:cs typeface="Times New Roman" panose="02020603050405020304" pitchFamily="18" charset="0"/>
              </a:rPr>
              <a:t>analyze</a:t>
            </a:r>
            <a:r>
              <a:rPr lang="en-IN" sz="2000" b="1" dirty="0">
                <a:latin typeface="Times New Roman" panose="02020603050405020304" pitchFamily="18" charset="0"/>
                <a:cs typeface="Times New Roman" panose="02020603050405020304" pitchFamily="18" charset="0"/>
              </a:rPr>
              <a:t> Goodreads book data using web scraping and Python</a:t>
            </a:r>
            <a:r>
              <a:rPr lang="en-IN" sz="2000" dirty="0">
                <a:latin typeface="Times New Roman" panose="02020603050405020304" pitchFamily="18" charset="0"/>
                <a:cs typeface="Times New Roman" panose="02020603050405020304" pitchFamily="18" charset="0"/>
              </a:rPr>
              <a:t> understand patterns in book ratings, popularity, formats, genres and publication trends. By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factors such as </a:t>
            </a:r>
            <a:r>
              <a:rPr lang="en-IN" sz="2000" b="1" dirty="0">
                <a:latin typeface="Times New Roman" panose="02020603050405020304" pitchFamily="18" charset="0"/>
                <a:cs typeface="Times New Roman" panose="02020603050405020304" pitchFamily="18" charset="0"/>
              </a:rPr>
              <a:t>average rating, rating count, list score, total votes, pages, publication year and genre</a:t>
            </a:r>
            <a:r>
              <a:rPr lang="en-IN" sz="2000" dirty="0">
                <a:latin typeface="Times New Roman" panose="02020603050405020304" pitchFamily="18" charset="0"/>
                <a:cs typeface="Times New Roman" panose="02020603050405020304" pitchFamily="18" charset="0"/>
              </a:rPr>
              <a:t>, the project provides meaningful insights into how books perform and how different book characteristics are related to their popularity and reader ratings.</a:t>
            </a:r>
            <a:endParaRPr lang="en-IN" sz="2800" b="0"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additive="repl">
                                        <p:cTn id="7"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p:nvPr>
        </p:nvSpPr>
        <p:spPr>
          <a:xfrm>
            <a:off x="609600" y="1440000"/>
            <a:ext cx="10743360" cy="5128920"/>
          </a:xfrm>
          <a:prstGeom prst="rect">
            <a:avLst/>
          </a:prstGeom>
          <a:noFill/>
          <a:ln w="0">
            <a:noFill/>
          </a:ln>
        </p:spPr>
        <p:txBody>
          <a:bodyPr lIns="90000" tIns="45000" rIns="90000" bIns="45000" anchor="t">
            <a:noAutofit/>
          </a:bodyPr>
          <a:lstStyle/>
          <a:p>
            <a:pPr>
              <a:lnSpc>
                <a:spcPct val="150000"/>
              </a:lnSpc>
              <a:spcBef>
                <a:spcPts val="1001"/>
              </a:spcBef>
              <a:buNone/>
            </a:pPr>
            <a:r>
              <a:rPr lang="en-IN" sz="2000" dirty="0">
                <a:latin typeface="Times New Roman" panose="02020603050405020304" pitchFamily="18" charset="0"/>
                <a:cs typeface="Times New Roman" panose="02020603050405020304" pitchFamily="18" charset="0"/>
              </a:rPr>
              <a:t>   The Goodreads Web Scraping and Analysis project focuses on collecting and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book-related information from Goodreads. The project uses </a:t>
            </a:r>
            <a:r>
              <a:rPr lang="en-IN" sz="2000" b="1" dirty="0">
                <a:latin typeface="Times New Roman" panose="02020603050405020304" pitchFamily="18" charset="0"/>
                <a:cs typeface="Times New Roman" panose="02020603050405020304" pitchFamily="18" charset="0"/>
              </a:rPr>
              <a:t>Python, Requests, </a:t>
            </a:r>
            <a:r>
              <a:rPr lang="en-IN" sz="2000" b="1" dirty="0" err="1">
                <a:latin typeface="Times New Roman" panose="02020603050405020304" pitchFamily="18" charset="0"/>
                <a:cs typeface="Times New Roman" panose="02020603050405020304" pitchFamily="18" charset="0"/>
              </a:rPr>
              <a:t>BeautifulSoup</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and </a:t>
            </a:r>
            <a:r>
              <a:rPr lang="en-IN" sz="2000" b="1" dirty="0">
                <a:latin typeface="Times New Roman" panose="02020603050405020304" pitchFamily="18" charset="0"/>
                <a:cs typeface="Times New Roman" panose="02020603050405020304" pitchFamily="18" charset="0"/>
              </a:rPr>
              <a:t>Selenium</a:t>
            </a:r>
            <a:r>
              <a:rPr lang="en-IN" sz="2000" dirty="0">
                <a:latin typeface="Times New Roman" panose="02020603050405020304" pitchFamily="18" charset="0"/>
                <a:cs typeface="Times New Roman" panose="02020603050405020304" pitchFamily="18" charset="0"/>
              </a:rPr>
              <a:t> to scrape details such as book title, author, average rating, rating count, list score, total votes, pages, format, publication date and genres. The collected data is cleaned and organized using Pandas, followed by exploratory data analysis using Matplotlib and Seaborn. The analysis helps identify patterns in book popularity, ratings, formats, genres and publication trends and converts raw web data into meaningful business insights.</a:t>
            </a:r>
            <a:endParaRPr lang="en-IN" sz="2000" strike="noStrike" spc="-1" dirty="0">
              <a:latin typeface="Times New Roman" panose="02020603050405020304" pitchFamily="18" charset="0"/>
              <a:cs typeface="Times New Roman" panose="02020603050405020304" pitchFamily="18" charset="0"/>
            </a:endParaRPr>
          </a:p>
        </p:txBody>
      </p:sp>
      <p:sp>
        <p:nvSpPr>
          <p:cNvPr id="139" name="Google Shape;105;p3"/>
          <p:cNvSpPr/>
          <p:nvPr/>
        </p:nvSpPr>
        <p:spPr>
          <a:xfrm>
            <a:off x="804960" y="600480"/>
            <a:ext cx="5721480" cy="4848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US" sz="3200" spc="-1" dirty="0">
                <a:solidFill>
                  <a:srgbClr val="FF0000"/>
                </a:solidFill>
                <a:latin typeface="Times New Roman"/>
                <a:ea typeface="Lato Black"/>
              </a:rPr>
              <a:t>  Introduction </a:t>
            </a:r>
            <a:endParaRPr lang="en-IN" sz="3200" b="0" strike="noStrike" spc="-1"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fade">
                                      <p:cBhvr additive="repl">
                                        <p:cTn id="7"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B6F8-2C31-2299-4E29-A62D91C986ED}"/>
            </a:ext>
          </a:extLst>
        </p:cNvPr>
        <p:cNvGrpSpPr/>
        <p:nvPr/>
      </p:nvGrpSpPr>
      <p:grpSpPr>
        <a:xfrm>
          <a:off x="0" y="0"/>
          <a:ext cx="0" cy="0"/>
          <a:chOff x="0" y="0"/>
          <a:chExt cx="0" cy="0"/>
        </a:xfrm>
      </p:grpSpPr>
      <p:sp>
        <p:nvSpPr>
          <p:cNvPr id="140" name="Google Shape;105;p3">
            <a:extLst>
              <a:ext uri="{FF2B5EF4-FFF2-40B4-BE49-F238E27FC236}">
                <a16:creationId xmlns:a16="http://schemas.microsoft.com/office/drawing/2014/main" id="{01808A20-5671-DD0B-9BB9-9BFCB1E2C4EC}"/>
              </a:ext>
            </a:extLst>
          </p:cNvPr>
          <p:cNvSpPr/>
          <p:nvPr/>
        </p:nvSpPr>
        <p:spPr>
          <a:xfrm>
            <a:off x="804960" y="416520"/>
            <a:ext cx="5721480" cy="4848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US" sz="3200" spc="-1" dirty="0">
                <a:solidFill>
                  <a:srgbClr val="FF0000"/>
                </a:solidFill>
                <a:latin typeface="Times New Roman"/>
                <a:ea typeface="Lato Black"/>
              </a:rPr>
              <a:t>  Data Overview</a:t>
            </a:r>
            <a:endParaRPr lang="en-IN" sz="3200" b="0" strike="noStrike" spc="-1" dirty="0">
              <a:latin typeface="Arial"/>
            </a:endParaRPr>
          </a:p>
        </p:txBody>
      </p:sp>
      <p:pic>
        <p:nvPicPr>
          <p:cNvPr id="8" name="Picture 7">
            <a:extLst>
              <a:ext uri="{FF2B5EF4-FFF2-40B4-BE49-F238E27FC236}">
                <a16:creationId xmlns:a16="http://schemas.microsoft.com/office/drawing/2014/main" id="{53FFF927-A7FB-C744-A4CD-864626479300}"/>
              </a:ext>
            </a:extLst>
          </p:cNvPr>
          <p:cNvPicPr>
            <a:picLocks noChangeAspect="1"/>
          </p:cNvPicPr>
          <p:nvPr/>
        </p:nvPicPr>
        <p:blipFill>
          <a:blip r:embed="rId2">
            <a:extLst>
              <a:ext uri="{28A0092B-C50C-407E-A947-70E740481C1C}">
                <a14:useLocalDpi xmlns:a14="http://schemas.microsoft.com/office/drawing/2010/main" val="0"/>
              </a:ext>
            </a:extLst>
          </a:blip>
          <a:srcRect t="11443"/>
          <a:stretch>
            <a:fillRect/>
          </a:stretch>
        </p:blipFill>
        <p:spPr>
          <a:xfrm>
            <a:off x="952500" y="1144864"/>
            <a:ext cx="10287000" cy="5275005"/>
          </a:xfrm>
          <a:prstGeom prst="rect">
            <a:avLst/>
          </a:prstGeom>
        </p:spPr>
      </p:pic>
    </p:spTree>
    <p:extLst>
      <p:ext uri="{BB962C8B-B14F-4D97-AF65-F5344CB8AC3E}">
        <p14:creationId xmlns:p14="http://schemas.microsoft.com/office/powerpoint/2010/main" val="2392544854"/>
      </p:ext>
    </p:extLst>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additive="repl">
                                        <p:cTn id="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Google Shape;105;p3"/>
          <p:cNvSpPr/>
          <p:nvPr/>
        </p:nvSpPr>
        <p:spPr>
          <a:xfrm>
            <a:off x="804960" y="416520"/>
            <a:ext cx="5721480" cy="4848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US" sz="3200" spc="-1" dirty="0" err="1">
                <a:solidFill>
                  <a:srgbClr val="FF0000"/>
                </a:solidFill>
                <a:latin typeface="Times New Roman"/>
                <a:ea typeface="Lato Black"/>
              </a:rPr>
              <a:t>DataFrame</a:t>
            </a:r>
            <a:endParaRPr lang="en-IN" sz="3200" b="0" strike="noStrike" spc="-1" dirty="0">
              <a:latin typeface="Arial"/>
            </a:endParaRPr>
          </a:p>
        </p:txBody>
      </p:sp>
      <p:pic>
        <p:nvPicPr>
          <p:cNvPr id="3" name="Picture 2">
            <a:extLst>
              <a:ext uri="{FF2B5EF4-FFF2-40B4-BE49-F238E27FC236}">
                <a16:creationId xmlns:a16="http://schemas.microsoft.com/office/drawing/2014/main" id="{FC0962C6-3236-F126-CDDB-8B2F1C0050A2}"/>
              </a:ext>
            </a:extLst>
          </p:cNvPr>
          <p:cNvPicPr>
            <a:picLocks noChangeAspect="1"/>
          </p:cNvPicPr>
          <p:nvPr/>
        </p:nvPicPr>
        <p:blipFill>
          <a:blip r:embed="rId2"/>
          <a:srcRect t="1637"/>
          <a:stretch>
            <a:fillRect/>
          </a:stretch>
        </p:blipFill>
        <p:spPr>
          <a:xfrm>
            <a:off x="9463480" y="1238673"/>
            <a:ext cx="2149906" cy="4817998"/>
          </a:xfrm>
          <a:prstGeom prst="rect">
            <a:avLst/>
          </a:prstGeom>
        </p:spPr>
      </p:pic>
      <p:pic>
        <p:nvPicPr>
          <p:cNvPr id="7" name="Picture 6">
            <a:extLst>
              <a:ext uri="{FF2B5EF4-FFF2-40B4-BE49-F238E27FC236}">
                <a16:creationId xmlns:a16="http://schemas.microsoft.com/office/drawing/2014/main" id="{57DE8784-0EB1-950F-9062-D0E61B0DD561}"/>
              </a:ext>
            </a:extLst>
          </p:cNvPr>
          <p:cNvPicPr>
            <a:picLocks noChangeAspect="1"/>
          </p:cNvPicPr>
          <p:nvPr/>
        </p:nvPicPr>
        <p:blipFill>
          <a:blip r:embed="rId3"/>
          <a:stretch>
            <a:fillRect/>
          </a:stretch>
        </p:blipFill>
        <p:spPr>
          <a:xfrm>
            <a:off x="934066" y="1238673"/>
            <a:ext cx="8529414" cy="4817998"/>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additive="repl">
                                        <p:cTn id="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Box 141"/>
          <p:cNvSpPr txBox="1"/>
          <p:nvPr/>
        </p:nvSpPr>
        <p:spPr>
          <a:xfrm>
            <a:off x="786000" y="1021007"/>
            <a:ext cx="10620000" cy="1270800"/>
          </a:xfrm>
          <a:prstGeom prst="rect">
            <a:avLst/>
          </a:prstGeom>
          <a:noFill/>
          <a:ln w="0">
            <a:noFill/>
          </a:ln>
        </p:spPr>
        <p:txBody>
          <a:bodyPr lIns="90000" tIns="45000" rIns="90000" bIns="45000" anchor="t">
            <a:noAutofit/>
          </a:bodyPr>
          <a:lstStyle/>
          <a:p>
            <a:pPr algn="just">
              <a:lnSpc>
                <a:spcPct val="90000"/>
              </a:lnSpc>
              <a:spcBef>
                <a:spcPts val="1001"/>
              </a:spcBef>
              <a:buNone/>
            </a:pPr>
            <a:r>
              <a:rPr lang="en-IN" sz="2800" b="0" strike="noStrike" spc="-1" dirty="0">
                <a:solidFill>
                  <a:srgbClr val="000000"/>
                </a:solidFill>
                <a:latin typeface="Times New Roman"/>
                <a:ea typeface="Calibri"/>
              </a:rPr>
              <a:t> </a:t>
            </a:r>
            <a:r>
              <a:rPr lang="en-IN" sz="2400" b="0" strike="noStrike" spc="-1" dirty="0">
                <a:latin typeface="Times New Roman"/>
                <a:ea typeface="Calibri"/>
              </a:rPr>
              <a:t>1.what are most common book genres ?</a:t>
            </a:r>
            <a:endParaRPr lang="en-IN" sz="2400" b="0" strike="noStrike" spc="-1" dirty="0">
              <a:latin typeface="Arial"/>
            </a:endParaRPr>
          </a:p>
        </p:txBody>
      </p:sp>
      <p:sp>
        <p:nvSpPr>
          <p:cNvPr id="143" name="TextBox 142"/>
          <p:cNvSpPr txBox="1"/>
          <p:nvPr/>
        </p:nvSpPr>
        <p:spPr>
          <a:xfrm>
            <a:off x="540000" y="360000"/>
            <a:ext cx="6086942" cy="542160"/>
          </a:xfrm>
          <a:prstGeom prst="rect">
            <a:avLst/>
          </a:prstGeom>
          <a:noFill/>
          <a:ln w="0">
            <a:noFill/>
          </a:ln>
        </p:spPr>
        <p:txBody>
          <a:bodyPr lIns="90000" tIns="45000" rIns="90000" bIns="45000" anchor="t">
            <a:noAutofit/>
          </a:bodyPr>
          <a:lstStyle/>
          <a:p>
            <a:r>
              <a:rPr lang="en-US" sz="3200" spc="-1" dirty="0">
                <a:solidFill>
                  <a:srgbClr val="FF0000"/>
                </a:solidFill>
                <a:latin typeface="Times New Roman"/>
                <a:ea typeface="Lato Black"/>
              </a:rPr>
              <a:t>U</a:t>
            </a:r>
            <a:r>
              <a:rPr lang="en-IN" sz="3200" spc="-1" dirty="0" err="1">
                <a:solidFill>
                  <a:srgbClr val="FF0000"/>
                </a:solidFill>
                <a:latin typeface="Times New Roman"/>
                <a:ea typeface="Lato Black"/>
              </a:rPr>
              <a:t>nivariate</a:t>
            </a:r>
            <a:r>
              <a:rPr lang="en-IN" sz="3200" spc="-1" dirty="0">
                <a:solidFill>
                  <a:srgbClr val="FF0000"/>
                </a:solidFill>
                <a:latin typeface="Times New Roman"/>
                <a:ea typeface="Lato Black"/>
              </a:rPr>
              <a:t> Analysis</a:t>
            </a:r>
            <a:endParaRPr lang="en-IN" sz="3200" b="0" strike="noStrike" spc="-1" dirty="0">
              <a:latin typeface="Arial"/>
            </a:endParaRPr>
          </a:p>
        </p:txBody>
      </p:sp>
      <p:sp>
        <p:nvSpPr>
          <p:cNvPr id="5" name="TextBox 4">
            <a:extLst>
              <a:ext uri="{FF2B5EF4-FFF2-40B4-BE49-F238E27FC236}">
                <a16:creationId xmlns:a16="http://schemas.microsoft.com/office/drawing/2014/main" id="{64A61B83-8343-70EA-E67B-22878537AE0B}"/>
              </a:ext>
            </a:extLst>
          </p:cNvPr>
          <p:cNvSpPr txBox="1"/>
          <p:nvPr/>
        </p:nvSpPr>
        <p:spPr>
          <a:xfrm>
            <a:off x="7030064" y="2060974"/>
            <a:ext cx="6096000" cy="461665"/>
          </a:xfrm>
          <a:prstGeom prst="rect">
            <a:avLst/>
          </a:prstGeom>
          <a:noFill/>
        </p:spPr>
        <p:txBody>
          <a:bodyPr wrap="square">
            <a:spAutoFit/>
          </a:bodyPr>
          <a:lstStyle/>
          <a:p>
            <a:r>
              <a:rPr lang="en-US" sz="2400" spc="-1" dirty="0">
                <a:solidFill>
                  <a:srgbClr val="FF0000"/>
                </a:solidFill>
                <a:latin typeface="Times New Roman"/>
                <a:ea typeface="Calibri"/>
              </a:rPr>
              <a:t>I</a:t>
            </a:r>
            <a:r>
              <a:rPr lang="en-IN" sz="2400" spc="-1" dirty="0" err="1">
                <a:solidFill>
                  <a:srgbClr val="FF0000"/>
                </a:solidFill>
                <a:latin typeface="Times New Roman"/>
                <a:ea typeface="Calibri"/>
              </a:rPr>
              <a:t>nsights</a:t>
            </a:r>
            <a:r>
              <a:rPr lang="en-IN" sz="2400" spc="-1" dirty="0">
                <a:latin typeface="Times New Roman"/>
                <a:ea typeface="Calibri"/>
              </a:rPr>
              <a:t>:</a:t>
            </a:r>
            <a:endParaRPr lang="en-IN" dirty="0"/>
          </a:p>
        </p:txBody>
      </p:sp>
      <p:sp>
        <p:nvSpPr>
          <p:cNvPr id="7" name="TextBox 6">
            <a:extLst>
              <a:ext uri="{FF2B5EF4-FFF2-40B4-BE49-F238E27FC236}">
                <a16:creationId xmlns:a16="http://schemas.microsoft.com/office/drawing/2014/main" id="{6DF71A05-07C4-BC02-5814-E3B95CA5C564}"/>
              </a:ext>
            </a:extLst>
          </p:cNvPr>
          <p:cNvSpPr txBox="1"/>
          <p:nvPr/>
        </p:nvSpPr>
        <p:spPr>
          <a:xfrm>
            <a:off x="6794090" y="2692794"/>
            <a:ext cx="4857136" cy="1894749"/>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Fiction is the most common genre in the dataset, followed by other popular categories such as Fantasy and Classics. This shows that the selected Goodreads books are largely concentrated in popular literary and fictional genres.</a:t>
            </a:r>
          </a:p>
        </p:txBody>
      </p:sp>
      <p:pic>
        <p:nvPicPr>
          <p:cNvPr id="9" name="Picture 8">
            <a:extLst>
              <a:ext uri="{FF2B5EF4-FFF2-40B4-BE49-F238E27FC236}">
                <a16:creationId xmlns:a16="http://schemas.microsoft.com/office/drawing/2014/main" id="{1A0985C0-ECE9-4B35-2F85-F9EF248ED103}"/>
              </a:ext>
            </a:extLst>
          </p:cNvPr>
          <p:cNvPicPr>
            <a:picLocks noChangeAspect="1"/>
          </p:cNvPicPr>
          <p:nvPr/>
        </p:nvPicPr>
        <p:blipFill>
          <a:blip r:embed="rId2"/>
          <a:stretch>
            <a:fillRect/>
          </a:stretch>
        </p:blipFill>
        <p:spPr>
          <a:xfrm>
            <a:off x="540000" y="1897627"/>
            <a:ext cx="6175432" cy="43753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0435-882B-EDDE-D4B2-6622354696EA}"/>
            </a:ext>
          </a:extLst>
        </p:cNvPr>
        <p:cNvGrpSpPr/>
        <p:nvPr/>
      </p:nvGrpSpPr>
      <p:grpSpPr>
        <a:xfrm>
          <a:off x="0" y="0"/>
          <a:ext cx="0" cy="0"/>
          <a:chOff x="0" y="0"/>
          <a:chExt cx="0" cy="0"/>
        </a:xfrm>
      </p:grpSpPr>
      <p:sp>
        <p:nvSpPr>
          <p:cNvPr id="142" name="TextBox 141">
            <a:extLst>
              <a:ext uri="{FF2B5EF4-FFF2-40B4-BE49-F238E27FC236}">
                <a16:creationId xmlns:a16="http://schemas.microsoft.com/office/drawing/2014/main" id="{47CA7BCE-EFEE-F55D-BD72-936A7972A173}"/>
              </a:ext>
            </a:extLst>
          </p:cNvPr>
          <p:cNvSpPr txBox="1"/>
          <p:nvPr/>
        </p:nvSpPr>
        <p:spPr>
          <a:xfrm>
            <a:off x="786000" y="1021007"/>
            <a:ext cx="10620000" cy="1270800"/>
          </a:xfrm>
          <a:prstGeom prst="rect">
            <a:avLst/>
          </a:prstGeom>
          <a:noFill/>
          <a:ln w="0">
            <a:noFill/>
          </a:ln>
        </p:spPr>
        <p:txBody>
          <a:bodyPr lIns="90000" tIns="45000" rIns="90000" bIns="45000" anchor="t">
            <a:noAutofit/>
          </a:bodyPr>
          <a:lstStyle/>
          <a:p>
            <a:pPr algn="just">
              <a:lnSpc>
                <a:spcPct val="90000"/>
              </a:lnSpc>
              <a:spcBef>
                <a:spcPts val="1001"/>
              </a:spcBef>
              <a:buNone/>
            </a:pPr>
            <a:r>
              <a:rPr lang="en-IN" sz="2800" b="0" strike="noStrike" spc="-1" dirty="0">
                <a:solidFill>
                  <a:srgbClr val="000000"/>
                </a:solidFill>
                <a:latin typeface="Times New Roman"/>
                <a:ea typeface="Calibri"/>
              </a:rPr>
              <a:t> </a:t>
            </a:r>
            <a:r>
              <a:rPr lang="en-IN" sz="2400" b="0" strike="noStrike" spc="-1" dirty="0">
                <a:latin typeface="Times New Roman"/>
                <a:ea typeface="Calibri"/>
              </a:rPr>
              <a:t>1.</a:t>
            </a:r>
            <a:r>
              <a:rPr lang="en-IN" sz="2400" spc="-1" dirty="0">
                <a:latin typeface="Times New Roman"/>
                <a:ea typeface="Calibri"/>
              </a:rPr>
              <a:t>How are the book formats distributed</a:t>
            </a:r>
            <a:r>
              <a:rPr lang="en-IN" sz="2400" b="0" strike="noStrike" spc="-1" dirty="0">
                <a:latin typeface="Times New Roman"/>
                <a:ea typeface="Calibri"/>
              </a:rPr>
              <a:t> ?</a:t>
            </a:r>
            <a:endParaRPr lang="en-IN" sz="2400" b="0" strike="noStrike" spc="-1" dirty="0">
              <a:latin typeface="Arial"/>
            </a:endParaRPr>
          </a:p>
        </p:txBody>
      </p:sp>
      <p:sp>
        <p:nvSpPr>
          <p:cNvPr id="143" name="TextBox 142">
            <a:extLst>
              <a:ext uri="{FF2B5EF4-FFF2-40B4-BE49-F238E27FC236}">
                <a16:creationId xmlns:a16="http://schemas.microsoft.com/office/drawing/2014/main" id="{90B2C0D3-E3F8-D117-24DD-8701D3DCBB2D}"/>
              </a:ext>
            </a:extLst>
          </p:cNvPr>
          <p:cNvSpPr txBox="1"/>
          <p:nvPr/>
        </p:nvSpPr>
        <p:spPr>
          <a:xfrm>
            <a:off x="540000" y="360000"/>
            <a:ext cx="6086942" cy="542160"/>
          </a:xfrm>
          <a:prstGeom prst="rect">
            <a:avLst/>
          </a:prstGeom>
          <a:noFill/>
          <a:ln w="0">
            <a:noFill/>
          </a:ln>
        </p:spPr>
        <p:txBody>
          <a:bodyPr lIns="90000" tIns="45000" rIns="90000" bIns="45000" anchor="t">
            <a:noAutofit/>
          </a:bodyPr>
          <a:lstStyle/>
          <a:p>
            <a:r>
              <a:rPr lang="en-US" sz="3200" spc="-1" dirty="0">
                <a:solidFill>
                  <a:srgbClr val="FF0000"/>
                </a:solidFill>
                <a:latin typeface="Times New Roman"/>
                <a:ea typeface="Lato Black"/>
              </a:rPr>
              <a:t>U</a:t>
            </a:r>
            <a:r>
              <a:rPr lang="en-IN" sz="3200" spc="-1" dirty="0" err="1">
                <a:solidFill>
                  <a:srgbClr val="FF0000"/>
                </a:solidFill>
                <a:latin typeface="Times New Roman"/>
                <a:ea typeface="Lato Black"/>
              </a:rPr>
              <a:t>nivariate</a:t>
            </a:r>
            <a:r>
              <a:rPr lang="en-IN" sz="3200" spc="-1" dirty="0">
                <a:solidFill>
                  <a:srgbClr val="FF0000"/>
                </a:solidFill>
                <a:latin typeface="Times New Roman"/>
                <a:ea typeface="Lato Black"/>
              </a:rPr>
              <a:t> Analysis</a:t>
            </a:r>
            <a:endParaRPr lang="en-IN" sz="3200" b="0" strike="noStrike" spc="-1" dirty="0">
              <a:latin typeface="Arial"/>
            </a:endParaRPr>
          </a:p>
        </p:txBody>
      </p:sp>
      <p:sp>
        <p:nvSpPr>
          <p:cNvPr id="5" name="TextBox 4">
            <a:extLst>
              <a:ext uri="{FF2B5EF4-FFF2-40B4-BE49-F238E27FC236}">
                <a16:creationId xmlns:a16="http://schemas.microsoft.com/office/drawing/2014/main" id="{6A13BA7A-67BD-2CDF-2AA1-5CED701ED9D0}"/>
              </a:ext>
            </a:extLst>
          </p:cNvPr>
          <p:cNvSpPr txBox="1"/>
          <p:nvPr/>
        </p:nvSpPr>
        <p:spPr>
          <a:xfrm>
            <a:off x="7030064" y="2060974"/>
            <a:ext cx="6096000" cy="461665"/>
          </a:xfrm>
          <a:prstGeom prst="rect">
            <a:avLst/>
          </a:prstGeom>
          <a:noFill/>
        </p:spPr>
        <p:txBody>
          <a:bodyPr wrap="square">
            <a:spAutoFit/>
          </a:bodyPr>
          <a:lstStyle/>
          <a:p>
            <a:r>
              <a:rPr lang="en-US" sz="2400" spc="-1" dirty="0">
                <a:solidFill>
                  <a:srgbClr val="FF0000"/>
                </a:solidFill>
                <a:latin typeface="Times New Roman"/>
                <a:ea typeface="Calibri"/>
              </a:rPr>
              <a:t>I</a:t>
            </a:r>
            <a:r>
              <a:rPr lang="en-IN" sz="2400" spc="-1" dirty="0" err="1">
                <a:solidFill>
                  <a:srgbClr val="FF0000"/>
                </a:solidFill>
                <a:latin typeface="Times New Roman"/>
                <a:ea typeface="Calibri"/>
              </a:rPr>
              <a:t>nsights</a:t>
            </a:r>
            <a:r>
              <a:rPr lang="en-IN" sz="2400" spc="-1" dirty="0">
                <a:latin typeface="Times New Roman"/>
                <a:ea typeface="Calibri"/>
              </a:rPr>
              <a:t>:</a:t>
            </a:r>
            <a:endParaRPr lang="en-IN" dirty="0"/>
          </a:p>
        </p:txBody>
      </p:sp>
      <p:sp>
        <p:nvSpPr>
          <p:cNvPr id="7" name="TextBox 6">
            <a:extLst>
              <a:ext uri="{FF2B5EF4-FFF2-40B4-BE49-F238E27FC236}">
                <a16:creationId xmlns:a16="http://schemas.microsoft.com/office/drawing/2014/main" id="{3D53EDD9-DA76-B57A-9565-899E5CCDC748}"/>
              </a:ext>
            </a:extLst>
          </p:cNvPr>
          <p:cNvSpPr txBox="1"/>
          <p:nvPr/>
        </p:nvSpPr>
        <p:spPr>
          <a:xfrm>
            <a:off x="6794090" y="2692794"/>
            <a:ext cx="4857136" cy="2264081"/>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Paperback is the most common book format in the dataset, followed by Hardcover and Mass Market Paperback. Kindle Edition and </a:t>
            </a:r>
            <a:r>
              <a:rPr lang="en-IN" sz="1600" dirty="0" err="1">
                <a:latin typeface="Times New Roman" panose="02020603050405020304" pitchFamily="18" charset="0"/>
                <a:cs typeface="Times New Roman" panose="02020603050405020304" pitchFamily="18" charset="0"/>
              </a:rPr>
              <a:t>ebook</a:t>
            </a:r>
            <a:r>
              <a:rPr lang="en-IN" sz="1600" dirty="0">
                <a:latin typeface="Times New Roman" panose="02020603050405020304" pitchFamily="18" charset="0"/>
                <a:cs typeface="Times New Roman" panose="02020603050405020304" pitchFamily="18" charset="0"/>
              </a:rPr>
              <a:t> formats are less common, while Board book appears only rarely. This shows that physical book formats, especially Paperback, dominate the selected Goodreads books.</a:t>
            </a:r>
          </a:p>
        </p:txBody>
      </p:sp>
      <p:pic>
        <p:nvPicPr>
          <p:cNvPr id="3" name="Picture 2">
            <a:extLst>
              <a:ext uri="{FF2B5EF4-FFF2-40B4-BE49-F238E27FC236}">
                <a16:creationId xmlns:a16="http://schemas.microsoft.com/office/drawing/2014/main" id="{A09CADB8-98BF-703A-BCE8-6711B4A740E6}"/>
              </a:ext>
            </a:extLst>
          </p:cNvPr>
          <p:cNvPicPr>
            <a:picLocks noChangeAspect="1"/>
          </p:cNvPicPr>
          <p:nvPr/>
        </p:nvPicPr>
        <p:blipFill>
          <a:blip r:embed="rId2"/>
          <a:stretch>
            <a:fillRect/>
          </a:stretch>
        </p:blipFill>
        <p:spPr>
          <a:xfrm>
            <a:off x="932204" y="1778686"/>
            <a:ext cx="4465707" cy="4092295"/>
          </a:xfrm>
          <a:prstGeom prst="rect">
            <a:avLst/>
          </a:prstGeom>
        </p:spPr>
      </p:pic>
    </p:spTree>
    <p:extLst>
      <p:ext uri="{BB962C8B-B14F-4D97-AF65-F5344CB8AC3E}">
        <p14:creationId xmlns:p14="http://schemas.microsoft.com/office/powerpoint/2010/main" val="106520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B73C-CEE6-7B87-D14B-29EE1C6E7505}"/>
            </a:ext>
          </a:extLst>
        </p:cNvPr>
        <p:cNvGrpSpPr/>
        <p:nvPr/>
      </p:nvGrpSpPr>
      <p:grpSpPr>
        <a:xfrm>
          <a:off x="0" y="0"/>
          <a:ext cx="0" cy="0"/>
          <a:chOff x="0" y="0"/>
          <a:chExt cx="0" cy="0"/>
        </a:xfrm>
      </p:grpSpPr>
      <p:sp>
        <p:nvSpPr>
          <p:cNvPr id="142" name="TextBox 141">
            <a:extLst>
              <a:ext uri="{FF2B5EF4-FFF2-40B4-BE49-F238E27FC236}">
                <a16:creationId xmlns:a16="http://schemas.microsoft.com/office/drawing/2014/main" id="{4705D9FC-8926-EF01-6E15-2930A4113DCA}"/>
              </a:ext>
            </a:extLst>
          </p:cNvPr>
          <p:cNvSpPr txBox="1"/>
          <p:nvPr/>
        </p:nvSpPr>
        <p:spPr>
          <a:xfrm>
            <a:off x="786000" y="1021007"/>
            <a:ext cx="10620000" cy="1270800"/>
          </a:xfrm>
          <a:prstGeom prst="rect">
            <a:avLst/>
          </a:prstGeom>
          <a:noFill/>
          <a:ln w="0">
            <a:noFill/>
          </a:ln>
        </p:spPr>
        <p:txBody>
          <a:bodyPr lIns="90000" tIns="45000" rIns="90000" bIns="45000" anchor="t">
            <a:noAutofit/>
          </a:bodyPr>
          <a:lstStyle/>
          <a:p>
            <a:pPr algn="just">
              <a:lnSpc>
                <a:spcPct val="90000"/>
              </a:lnSpc>
              <a:spcBef>
                <a:spcPts val="1001"/>
              </a:spcBef>
              <a:buNone/>
            </a:pPr>
            <a:r>
              <a:rPr lang="en-IN" sz="2800" b="0" strike="noStrike" spc="-1" dirty="0">
                <a:solidFill>
                  <a:srgbClr val="000000"/>
                </a:solidFill>
                <a:latin typeface="Times New Roman"/>
                <a:ea typeface="Calibri"/>
              </a:rPr>
              <a:t> </a:t>
            </a:r>
            <a:r>
              <a:rPr lang="en-IN" sz="2400" b="0" strike="noStrike" spc="-1" dirty="0">
                <a:latin typeface="Times New Roman"/>
                <a:ea typeface="Calibri"/>
              </a:rPr>
              <a:t>1.which decade records the highest number of book publications?</a:t>
            </a:r>
            <a:endParaRPr lang="en-IN" sz="2400" b="0" strike="noStrike" spc="-1" dirty="0">
              <a:latin typeface="Arial"/>
            </a:endParaRPr>
          </a:p>
        </p:txBody>
      </p:sp>
      <p:sp>
        <p:nvSpPr>
          <p:cNvPr id="143" name="TextBox 142">
            <a:extLst>
              <a:ext uri="{FF2B5EF4-FFF2-40B4-BE49-F238E27FC236}">
                <a16:creationId xmlns:a16="http://schemas.microsoft.com/office/drawing/2014/main" id="{64B76D0F-B8C5-A03D-0A6D-5CC13923C36F}"/>
              </a:ext>
            </a:extLst>
          </p:cNvPr>
          <p:cNvSpPr txBox="1"/>
          <p:nvPr/>
        </p:nvSpPr>
        <p:spPr>
          <a:xfrm>
            <a:off x="540000" y="360000"/>
            <a:ext cx="6086942" cy="542160"/>
          </a:xfrm>
          <a:prstGeom prst="rect">
            <a:avLst/>
          </a:prstGeom>
          <a:noFill/>
          <a:ln w="0">
            <a:noFill/>
          </a:ln>
        </p:spPr>
        <p:txBody>
          <a:bodyPr lIns="90000" tIns="45000" rIns="90000" bIns="45000" anchor="t">
            <a:noAutofit/>
          </a:bodyPr>
          <a:lstStyle/>
          <a:p>
            <a:r>
              <a:rPr lang="en-US" sz="3200" spc="-1" dirty="0">
                <a:solidFill>
                  <a:srgbClr val="FF0000"/>
                </a:solidFill>
                <a:latin typeface="Times New Roman"/>
                <a:ea typeface="Lato Black"/>
              </a:rPr>
              <a:t>Bivariate</a:t>
            </a:r>
            <a:r>
              <a:rPr lang="en-IN" sz="3200" spc="-1" dirty="0">
                <a:solidFill>
                  <a:srgbClr val="FF0000"/>
                </a:solidFill>
                <a:latin typeface="Times New Roman"/>
                <a:ea typeface="Lato Black"/>
              </a:rPr>
              <a:t> Analysis</a:t>
            </a:r>
            <a:endParaRPr lang="en-IN" sz="3200" b="0" strike="noStrike" spc="-1" dirty="0">
              <a:latin typeface="Arial"/>
            </a:endParaRPr>
          </a:p>
        </p:txBody>
      </p:sp>
      <p:sp>
        <p:nvSpPr>
          <p:cNvPr id="5" name="TextBox 4">
            <a:extLst>
              <a:ext uri="{FF2B5EF4-FFF2-40B4-BE49-F238E27FC236}">
                <a16:creationId xmlns:a16="http://schemas.microsoft.com/office/drawing/2014/main" id="{84895760-7ECD-6788-1960-4B15A2D3F335}"/>
              </a:ext>
            </a:extLst>
          </p:cNvPr>
          <p:cNvSpPr txBox="1"/>
          <p:nvPr/>
        </p:nvSpPr>
        <p:spPr>
          <a:xfrm>
            <a:off x="7030064" y="2060974"/>
            <a:ext cx="6096000" cy="461665"/>
          </a:xfrm>
          <a:prstGeom prst="rect">
            <a:avLst/>
          </a:prstGeom>
          <a:noFill/>
        </p:spPr>
        <p:txBody>
          <a:bodyPr wrap="square">
            <a:spAutoFit/>
          </a:bodyPr>
          <a:lstStyle/>
          <a:p>
            <a:r>
              <a:rPr lang="en-US" sz="2400" spc="-1" dirty="0">
                <a:solidFill>
                  <a:srgbClr val="FF0000"/>
                </a:solidFill>
                <a:latin typeface="Times New Roman"/>
                <a:ea typeface="Calibri"/>
              </a:rPr>
              <a:t>I</a:t>
            </a:r>
            <a:r>
              <a:rPr lang="en-IN" sz="2400" spc="-1" dirty="0" err="1">
                <a:solidFill>
                  <a:srgbClr val="FF0000"/>
                </a:solidFill>
                <a:latin typeface="Times New Roman"/>
                <a:ea typeface="Calibri"/>
              </a:rPr>
              <a:t>nsights</a:t>
            </a:r>
            <a:r>
              <a:rPr lang="en-IN" sz="2400" spc="-1" dirty="0">
                <a:latin typeface="Times New Roman"/>
                <a:ea typeface="Calibri"/>
              </a:rPr>
              <a:t>:</a:t>
            </a:r>
            <a:endParaRPr lang="en-IN" dirty="0"/>
          </a:p>
        </p:txBody>
      </p:sp>
      <p:sp>
        <p:nvSpPr>
          <p:cNvPr id="7" name="TextBox 6">
            <a:extLst>
              <a:ext uri="{FF2B5EF4-FFF2-40B4-BE49-F238E27FC236}">
                <a16:creationId xmlns:a16="http://schemas.microsoft.com/office/drawing/2014/main" id="{67CA79A6-DC5B-3A7F-726A-A23DE0FE6A3F}"/>
              </a:ext>
            </a:extLst>
          </p:cNvPr>
          <p:cNvSpPr txBox="1"/>
          <p:nvPr/>
        </p:nvSpPr>
        <p:spPr>
          <a:xfrm>
            <a:off x="6794090" y="2692794"/>
            <a:ext cx="4857136" cy="1525418"/>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The number of books varies across publication years, with some periods having a higher concentration of books than others. This shows that 2000 decade records highest books published.</a:t>
            </a:r>
          </a:p>
        </p:txBody>
      </p:sp>
      <p:pic>
        <p:nvPicPr>
          <p:cNvPr id="8" name="Picture 7">
            <a:extLst>
              <a:ext uri="{FF2B5EF4-FFF2-40B4-BE49-F238E27FC236}">
                <a16:creationId xmlns:a16="http://schemas.microsoft.com/office/drawing/2014/main" id="{9A6E1F4A-4C43-F36F-3B5B-A6C29AC35F3D}"/>
              </a:ext>
            </a:extLst>
          </p:cNvPr>
          <p:cNvPicPr>
            <a:picLocks noChangeAspect="1"/>
          </p:cNvPicPr>
          <p:nvPr/>
        </p:nvPicPr>
        <p:blipFill>
          <a:blip r:embed="rId2"/>
          <a:stretch>
            <a:fillRect/>
          </a:stretch>
        </p:blipFill>
        <p:spPr>
          <a:xfrm>
            <a:off x="540000" y="2165569"/>
            <a:ext cx="5919794" cy="3959927"/>
          </a:xfrm>
          <a:prstGeom prst="rect">
            <a:avLst/>
          </a:prstGeom>
        </p:spPr>
      </p:pic>
    </p:spTree>
    <p:extLst>
      <p:ext uri="{BB962C8B-B14F-4D97-AF65-F5344CB8AC3E}">
        <p14:creationId xmlns:p14="http://schemas.microsoft.com/office/powerpoint/2010/main" val="2550920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6D2C-5420-CAAF-E6F0-51A0DB2FE73C}"/>
            </a:ext>
          </a:extLst>
        </p:cNvPr>
        <p:cNvGrpSpPr/>
        <p:nvPr/>
      </p:nvGrpSpPr>
      <p:grpSpPr>
        <a:xfrm>
          <a:off x="0" y="0"/>
          <a:ext cx="0" cy="0"/>
          <a:chOff x="0" y="0"/>
          <a:chExt cx="0" cy="0"/>
        </a:xfrm>
      </p:grpSpPr>
      <p:sp>
        <p:nvSpPr>
          <p:cNvPr id="142" name="TextBox 141">
            <a:extLst>
              <a:ext uri="{FF2B5EF4-FFF2-40B4-BE49-F238E27FC236}">
                <a16:creationId xmlns:a16="http://schemas.microsoft.com/office/drawing/2014/main" id="{20CB7FF5-645F-F177-AF72-3593D39BDB7F}"/>
              </a:ext>
            </a:extLst>
          </p:cNvPr>
          <p:cNvSpPr txBox="1"/>
          <p:nvPr/>
        </p:nvSpPr>
        <p:spPr>
          <a:xfrm>
            <a:off x="786000" y="1021007"/>
            <a:ext cx="10620000" cy="1270800"/>
          </a:xfrm>
          <a:prstGeom prst="rect">
            <a:avLst/>
          </a:prstGeom>
          <a:noFill/>
          <a:ln w="0">
            <a:noFill/>
          </a:ln>
        </p:spPr>
        <p:txBody>
          <a:bodyPr lIns="90000" tIns="45000" rIns="90000" bIns="45000" anchor="t">
            <a:noAutofit/>
          </a:bodyPr>
          <a:lstStyle/>
          <a:p>
            <a:pPr algn="just">
              <a:lnSpc>
                <a:spcPct val="90000"/>
              </a:lnSpc>
              <a:spcBef>
                <a:spcPts val="1001"/>
              </a:spcBef>
              <a:buNone/>
            </a:pPr>
            <a:r>
              <a:rPr lang="en-IN" sz="2800" b="0" strike="noStrike" spc="-1" dirty="0">
                <a:solidFill>
                  <a:srgbClr val="000000"/>
                </a:solidFill>
                <a:latin typeface="Times New Roman"/>
                <a:ea typeface="Calibri"/>
              </a:rPr>
              <a:t> </a:t>
            </a:r>
            <a:r>
              <a:rPr lang="en-IN" sz="2400" b="0" strike="noStrike" spc="-1" dirty="0">
                <a:latin typeface="Times New Roman"/>
                <a:ea typeface="Calibri"/>
              </a:rPr>
              <a:t>1.</a:t>
            </a:r>
            <a:r>
              <a:rPr lang="en-IN" sz="2400" spc="-1" dirty="0">
                <a:latin typeface="Times New Roman"/>
                <a:ea typeface="Calibri"/>
              </a:rPr>
              <a:t>Is there any relationship between average rating and number of ratings</a:t>
            </a:r>
            <a:r>
              <a:rPr lang="en-IN" sz="2400" b="0" strike="noStrike" spc="-1" dirty="0">
                <a:latin typeface="Times New Roman"/>
                <a:ea typeface="Calibri"/>
              </a:rPr>
              <a:t>?</a:t>
            </a:r>
            <a:endParaRPr lang="en-IN" sz="2400" b="0" strike="noStrike" spc="-1" dirty="0">
              <a:latin typeface="Arial"/>
            </a:endParaRPr>
          </a:p>
        </p:txBody>
      </p:sp>
      <p:sp>
        <p:nvSpPr>
          <p:cNvPr id="143" name="TextBox 142">
            <a:extLst>
              <a:ext uri="{FF2B5EF4-FFF2-40B4-BE49-F238E27FC236}">
                <a16:creationId xmlns:a16="http://schemas.microsoft.com/office/drawing/2014/main" id="{942C583B-7E26-4C62-9E09-8AD5AF7C5CE6}"/>
              </a:ext>
            </a:extLst>
          </p:cNvPr>
          <p:cNvSpPr txBox="1"/>
          <p:nvPr/>
        </p:nvSpPr>
        <p:spPr>
          <a:xfrm>
            <a:off x="540000" y="360000"/>
            <a:ext cx="6086942" cy="542160"/>
          </a:xfrm>
          <a:prstGeom prst="rect">
            <a:avLst/>
          </a:prstGeom>
          <a:noFill/>
          <a:ln w="0">
            <a:noFill/>
          </a:ln>
        </p:spPr>
        <p:txBody>
          <a:bodyPr lIns="90000" tIns="45000" rIns="90000" bIns="45000" anchor="t">
            <a:noAutofit/>
          </a:bodyPr>
          <a:lstStyle/>
          <a:p>
            <a:r>
              <a:rPr lang="en-US" sz="3200" spc="-1" dirty="0">
                <a:solidFill>
                  <a:srgbClr val="FF0000"/>
                </a:solidFill>
                <a:latin typeface="Times New Roman"/>
                <a:ea typeface="Lato Black"/>
              </a:rPr>
              <a:t>Bivariate</a:t>
            </a:r>
            <a:r>
              <a:rPr lang="en-IN" sz="3200" spc="-1" dirty="0">
                <a:solidFill>
                  <a:srgbClr val="FF0000"/>
                </a:solidFill>
                <a:latin typeface="Times New Roman"/>
                <a:ea typeface="Lato Black"/>
              </a:rPr>
              <a:t> Analysis</a:t>
            </a:r>
            <a:endParaRPr lang="en-IN" sz="3200" b="0" strike="noStrike" spc="-1" dirty="0">
              <a:latin typeface="Arial"/>
            </a:endParaRPr>
          </a:p>
        </p:txBody>
      </p:sp>
      <p:sp>
        <p:nvSpPr>
          <p:cNvPr id="5" name="TextBox 4">
            <a:extLst>
              <a:ext uri="{FF2B5EF4-FFF2-40B4-BE49-F238E27FC236}">
                <a16:creationId xmlns:a16="http://schemas.microsoft.com/office/drawing/2014/main" id="{7BC1A621-72D6-5680-B865-F119327EB048}"/>
              </a:ext>
            </a:extLst>
          </p:cNvPr>
          <p:cNvSpPr txBox="1"/>
          <p:nvPr/>
        </p:nvSpPr>
        <p:spPr>
          <a:xfrm>
            <a:off x="7030064" y="2060974"/>
            <a:ext cx="6096000" cy="461665"/>
          </a:xfrm>
          <a:prstGeom prst="rect">
            <a:avLst/>
          </a:prstGeom>
          <a:noFill/>
        </p:spPr>
        <p:txBody>
          <a:bodyPr wrap="square">
            <a:spAutoFit/>
          </a:bodyPr>
          <a:lstStyle/>
          <a:p>
            <a:r>
              <a:rPr lang="en-US" sz="2400" spc="-1" dirty="0">
                <a:solidFill>
                  <a:srgbClr val="FF0000"/>
                </a:solidFill>
                <a:latin typeface="Times New Roman"/>
                <a:ea typeface="Calibri"/>
              </a:rPr>
              <a:t>I</a:t>
            </a:r>
            <a:r>
              <a:rPr lang="en-IN" sz="2400" spc="-1" dirty="0" err="1">
                <a:solidFill>
                  <a:srgbClr val="FF0000"/>
                </a:solidFill>
                <a:latin typeface="Times New Roman"/>
                <a:ea typeface="Calibri"/>
              </a:rPr>
              <a:t>nsights</a:t>
            </a:r>
            <a:r>
              <a:rPr lang="en-IN" sz="2400" spc="-1" dirty="0">
                <a:latin typeface="Times New Roman"/>
                <a:ea typeface="Calibri"/>
              </a:rPr>
              <a:t>:</a:t>
            </a:r>
            <a:endParaRPr lang="en-IN" dirty="0"/>
          </a:p>
        </p:txBody>
      </p:sp>
      <p:sp>
        <p:nvSpPr>
          <p:cNvPr id="7" name="TextBox 6">
            <a:extLst>
              <a:ext uri="{FF2B5EF4-FFF2-40B4-BE49-F238E27FC236}">
                <a16:creationId xmlns:a16="http://schemas.microsoft.com/office/drawing/2014/main" id="{49179B67-1B44-1152-59C4-9203DAE73F63}"/>
              </a:ext>
            </a:extLst>
          </p:cNvPr>
          <p:cNvSpPr txBox="1"/>
          <p:nvPr/>
        </p:nvSpPr>
        <p:spPr>
          <a:xfrm>
            <a:off x="6794090" y="2692794"/>
            <a:ext cx="4857136" cy="1894749"/>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The scatter plot shows that </a:t>
            </a:r>
            <a:r>
              <a:rPr lang="en-IN" sz="1600" b="1" dirty="0">
                <a:latin typeface="Times New Roman" panose="02020603050405020304" pitchFamily="18" charset="0"/>
                <a:cs typeface="Times New Roman" panose="02020603050405020304" pitchFamily="18" charset="0"/>
              </a:rPr>
              <a:t>a higher number of ratings does not necessarily mean a higher average rating</a:t>
            </a:r>
            <a:r>
              <a:rPr lang="en-IN" sz="1600" dirty="0">
                <a:latin typeface="Times New Roman" panose="02020603050405020304" pitchFamily="18" charset="0"/>
                <a:cs typeface="Times New Roman" panose="02020603050405020304" pitchFamily="18" charset="0"/>
              </a:rPr>
              <a:t>. Some books have very large numbers of ratings but only moderate ratings, while some highly rated books have comparatively fewer ratings.</a:t>
            </a:r>
          </a:p>
        </p:txBody>
      </p:sp>
      <p:pic>
        <p:nvPicPr>
          <p:cNvPr id="4" name="Picture 3">
            <a:extLst>
              <a:ext uri="{FF2B5EF4-FFF2-40B4-BE49-F238E27FC236}">
                <a16:creationId xmlns:a16="http://schemas.microsoft.com/office/drawing/2014/main" id="{3500440C-EFF5-5A03-0085-538FDD0AE82E}"/>
              </a:ext>
            </a:extLst>
          </p:cNvPr>
          <p:cNvPicPr>
            <a:picLocks noChangeAspect="1"/>
          </p:cNvPicPr>
          <p:nvPr/>
        </p:nvPicPr>
        <p:blipFill>
          <a:blip r:embed="rId2"/>
          <a:stretch>
            <a:fillRect/>
          </a:stretch>
        </p:blipFill>
        <p:spPr>
          <a:xfrm>
            <a:off x="540000" y="2060974"/>
            <a:ext cx="6035563" cy="3642676"/>
          </a:xfrm>
          <a:prstGeom prst="rect">
            <a:avLst/>
          </a:prstGeom>
        </p:spPr>
      </p:pic>
    </p:spTree>
    <p:extLst>
      <p:ext uri="{BB962C8B-B14F-4D97-AF65-F5344CB8AC3E}">
        <p14:creationId xmlns:p14="http://schemas.microsoft.com/office/powerpoint/2010/main" val="383034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13073-F79B-99A1-4405-8D42407BFB8A}"/>
            </a:ext>
          </a:extLst>
        </p:cNvPr>
        <p:cNvGrpSpPr/>
        <p:nvPr/>
      </p:nvGrpSpPr>
      <p:grpSpPr>
        <a:xfrm>
          <a:off x="0" y="0"/>
          <a:ext cx="0" cy="0"/>
          <a:chOff x="0" y="0"/>
          <a:chExt cx="0" cy="0"/>
        </a:xfrm>
      </p:grpSpPr>
      <p:sp>
        <p:nvSpPr>
          <p:cNvPr id="142" name="TextBox 141">
            <a:extLst>
              <a:ext uri="{FF2B5EF4-FFF2-40B4-BE49-F238E27FC236}">
                <a16:creationId xmlns:a16="http://schemas.microsoft.com/office/drawing/2014/main" id="{D2DB1504-2DB3-B1EB-26C6-DC338A96C776}"/>
              </a:ext>
            </a:extLst>
          </p:cNvPr>
          <p:cNvSpPr txBox="1"/>
          <p:nvPr/>
        </p:nvSpPr>
        <p:spPr>
          <a:xfrm>
            <a:off x="786000" y="1021007"/>
            <a:ext cx="10620000" cy="1270800"/>
          </a:xfrm>
          <a:prstGeom prst="rect">
            <a:avLst/>
          </a:prstGeom>
          <a:noFill/>
          <a:ln w="0">
            <a:noFill/>
          </a:ln>
        </p:spPr>
        <p:txBody>
          <a:bodyPr lIns="90000" tIns="45000" rIns="90000" bIns="45000" anchor="t">
            <a:noAutofit/>
          </a:bodyPr>
          <a:lstStyle/>
          <a:p>
            <a:pPr algn="just">
              <a:lnSpc>
                <a:spcPct val="90000"/>
              </a:lnSpc>
              <a:spcBef>
                <a:spcPts val="1001"/>
              </a:spcBef>
              <a:buNone/>
            </a:pPr>
            <a:r>
              <a:rPr lang="en-IN" sz="2800" b="0" strike="noStrike" spc="-1" dirty="0">
                <a:solidFill>
                  <a:srgbClr val="000000"/>
                </a:solidFill>
                <a:latin typeface="Times New Roman"/>
                <a:ea typeface="Calibri"/>
              </a:rPr>
              <a:t> </a:t>
            </a:r>
            <a:r>
              <a:rPr lang="en-IN" sz="2400" b="0" strike="noStrike" spc="-1" dirty="0">
                <a:latin typeface="Times New Roman"/>
                <a:ea typeface="Calibri"/>
              </a:rPr>
              <a:t>1.H</a:t>
            </a:r>
            <a:r>
              <a:rPr lang="en-IN" sz="2400" spc="-1" dirty="0">
                <a:latin typeface="Times New Roman"/>
                <a:ea typeface="Calibri"/>
              </a:rPr>
              <a:t>ow are all the numerical columns related to each other</a:t>
            </a:r>
            <a:r>
              <a:rPr lang="en-IN" sz="2400" b="0" strike="noStrike" spc="-1" dirty="0">
                <a:latin typeface="Times New Roman"/>
                <a:ea typeface="Calibri"/>
              </a:rPr>
              <a:t>?</a:t>
            </a:r>
            <a:endParaRPr lang="en-IN" sz="2400" b="0" strike="noStrike" spc="-1" dirty="0">
              <a:latin typeface="Arial"/>
            </a:endParaRPr>
          </a:p>
        </p:txBody>
      </p:sp>
      <p:sp>
        <p:nvSpPr>
          <p:cNvPr id="143" name="TextBox 142">
            <a:extLst>
              <a:ext uri="{FF2B5EF4-FFF2-40B4-BE49-F238E27FC236}">
                <a16:creationId xmlns:a16="http://schemas.microsoft.com/office/drawing/2014/main" id="{E8FFBE74-5A00-3C39-C259-C743FC71FD90}"/>
              </a:ext>
            </a:extLst>
          </p:cNvPr>
          <p:cNvSpPr txBox="1"/>
          <p:nvPr/>
        </p:nvSpPr>
        <p:spPr>
          <a:xfrm>
            <a:off x="540000" y="360000"/>
            <a:ext cx="6086942" cy="542160"/>
          </a:xfrm>
          <a:prstGeom prst="rect">
            <a:avLst/>
          </a:prstGeom>
          <a:noFill/>
          <a:ln w="0">
            <a:noFill/>
          </a:ln>
        </p:spPr>
        <p:txBody>
          <a:bodyPr lIns="90000" tIns="45000" rIns="90000" bIns="45000" anchor="t">
            <a:noAutofit/>
          </a:bodyPr>
          <a:lstStyle/>
          <a:p>
            <a:r>
              <a:rPr lang="en-US" sz="3200" spc="-1" dirty="0">
                <a:solidFill>
                  <a:srgbClr val="FF0000"/>
                </a:solidFill>
                <a:latin typeface="Times New Roman"/>
                <a:ea typeface="Lato Black"/>
              </a:rPr>
              <a:t>Multivariate</a:t>
            </a:r>
            <a:r>
              <a:rPr lang="en-IN" sz="3200" spc="-1" dirty="0">
                <a:solidFill>
                  <a:srgbClr val="FF0000"/>
                </a:solidFill>
                <a:latin typeface="Times New Roman"/>
                <a:ea typeface="Lato Black"/>
              </a:rPr>
              <a:t> Analysis</a:t>
            </a:r>
            <a:endParaRPr lang="en-IN" sz="3200" b="0" strike="noStrike" spc="-1" dirty="0">
              <a:latin typeface="Arial"/>
            </a:endParaRPr>
          </a:p>
        </p:txBody>
      </p:sp>
      <p:sp>
        <p:nvSpPr>
          <p:cNvPr id="5" name="TextBox 4">
            <a:extLst>
              <a:ext uri="{FF2B5EF4-FFF2-40B4-BE49-F238E27FC236}">
                <a16:creationId xmlns:a16="http://schemas.microsoft.com/office/drawing/2014/main" id="{76E178E0-6F85-8325-697C-968E13E75124}"/>
              </a:ext>
            </a:extLst>
          </p:cNvPr>
          <p:cNvSpPr txBox="1"/>
          <p:nvPr/>
        </p:nvSpPr>
        <p:spPr>
          <a:xfrm>
            <a:off x="7030064" y="2060974"/>
            <a:ext cx="6096000" cy="461665"/>
          </a:xfrm>
          <a:prstGeom prst="rect">
            <a:avLst/>
          </a:prstGeom>
          <a:noFill/>
        </p:spPr>
        <p:txBody>
          <a:bodyPr wrap="square">
            <a:spAutoFit/>
          </a:bodyPr>
          <a:lstStyle/>
          <a:p>
            <a:r>
              <a:rPr lang="en-US" sz="2400" spc="-1" dirty="0">
                <a:solidFill>
                  <a:srgbClr val="FF0000"/>
                </a:solidFill>
                <a:latin typeface="Times New Roman"/>
                <a:ea typeface="Calibri"/>
              </a:rPr>
              <a:t>I</a:t>
            </a:r>
            <a:r>
              <a:rPr lang="en-IN" sz="2400" spc="-1" dirty="0" err="1">
                <a:solidFill>
                  <a:srgbClr val="FF0000"/>
                </a:solidFill>
                <a:latin typeface="Times New Roman"/>
                <a:ea typeface="Calibri"/>
              </a:rPr>
              <a:t>nsights</a:t>
            </a:r>
            <a:r>
              <a:rPr lang="en-IN" sz="2400" spc="-1" dirty="0">
                <a:latin typeface="Times New Roman"/>
                <a:ea typeface="Calibri"/>
              </a:rPr>
              <a:t>:</a:t>
            </a:r>
            <a:endParaRPr lang="en-IN" dirty="0"/>
          </a:p>
        </p:txBody>
      </p:sp>
      <p:sp>
        <p:nvSpPr>
          <p:cNvPr id="7" name="TextBox 6">
            <a:extLst>
              <a:ext uri="{FF2B5EF4-FFF2-40B4-BE49-F238E27FC236}">
                <a16:creationId xmlns:a16="http://schemas.microsoft.com/office/drawing/2014/main" id="{255CD70E-4F8A-D8FE-2D46-A4219D3EECA0}"/>
              </a:ext>
            </a:extLst>
          </p:cNvPr>
          <p:cNvSpPr txBox="1"/>
          <p:nvPr/>
        </p:nvSpPr>
        <p:spPr>
          <a:xfrm>
            <a:off x="6794090" y="2692794"/>
            <a:ext cx="4857136" cy="1992661"/>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List Score and Total Votes have a perfect positive correlation (1.00), meaning they move together in this dataset.</a:t>
            </a:r>
          </a:p>
          <a:p>
            <a:pPr marL="285750" lvl="0" indent="-285750">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Rating Count has a moderate positive correlation (0.56) with both List Score and Total Votes.</a:t>
            </a:r>
          </a:p>
          <a:p>
            <a:pPr marL="285750" lvl="0" indent="-285750">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Pages and Publication Year have very weak relationships with most other variables.</a:t>
            </a:r>
          </a:p>
        </p:txBody>
      </p:sp>
      <p:pic>
        <p:nvPicPr>
          <p:cNvPr id="3" name="Picture 2">
            <a:extLst>
              <a:ext uri="{FF2B5EF4-FFF2-40B4-BE49-F238E27FC236}">
                <a16:creationId xmlns:a16="http://schemas.microsoft.com/office/drawing/2014/main" id="{89FE8BA3-BE87-A405-16E8-536A2EB9CA17}"/>
              </a:ext>
            </a:extLst>
          </p:cNvPr>
          <p:cNvPicPr>
            <a:picLocks noChangeAspect="1"/>
          </p:cNvPicPr>
          <p:nvPr/>
        </p:nvPicPr>
        <p:blipFill>
          <a:blip r:embed="rId2"/>
          <a:stretch>
            <a:fillRect/>
          </a:stretch>
        </p:blipFill>
        <p:spPr>
          <a:xfrm>
            <a:off x="413959" y="1834156"/>
            <a:ext cx="6212983" cy="4663844"/>
          </a:xfrm>
          <a:prstGeom prst="rect">
            <a:avLst/>
          </a:prstGeom>
        </p:spPr>
      </p:pic>
    </p:spTree>
    <p:extLst>
      <p:ext uri="{BB962C8B-B14F-4D97-AF65-F5344CB8AC3E}">
        <p14:creationId xmlns:p14="http://schemas.microsoft.com/office/powerpoint/2010/main" val="3136935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2A35-E675-0971-EE63-9E27542BD2AE}"/>
            </a:ext>
          </a:extLst>
        </p:cNvPr>
        <p:cNvGrpSpPr/>
        <p:nvPr/>
      </p:nvGrpSpPr>
      <p:grpSpPr>
        <a:xfrm>
          <a:off x="0" y="0"/>
          <a:ext cx="0" cy="0"/>
          <a:chOff x="0" y="0"/>
          <a:chExt cx="0" cy="0"/>
        </a:xfrm>
      </p:grpSpPr>
      <p:sp>
        <p:nvSpPr>
          <p:cNvPr id="142" name="TextBox 141">
            <a:extLst>
              <a:ext uri="{FF2B5EF4-FFF2-40B4-BE49-F238E27FC236}">
                <a16:creationId xmlns:a16="http://schemas.microsoft.com/office/drawing/2014/main" id="{3909DEEF-FDCD-591A-18A6-9138007C20E9}"/>
              </a:ext>
            </a:extLst>
          </p:cNvPr>
          <p:cNvSpPr txBox="1"/>
          <p:nvPr/>
        </p:nvSpPr>
        <p:spPr>
          <a:xfrm>
            <a:off x="580103" y="1072315"/>
            <a:ext cx="11031794" cy="4699220"/>
          </a:xfrm>
          <a:prstGeom prst="rect">
            <a:avLst/>
          </a:prstGeom>
          <a:noFill/>
          <a:ln w="0">
            <a:noFill/>
          </a:ln>
        </p:spPr>
        <p:txBody>
          <a:bodyPr lIns="90000" tIns="45000" rIns="90000" bIns="45000" anchor="t">
            <a:noAutofit/>
          </a:bodyPr>
          <a:lstStyle/>
          <a:p>
            <a:pPr lvl="0">
              <a:lnSpc>
                <a:spcPct val="150000"/>
              </a:lnSpc>
            </a:pPr>
            <a:r>
              <a:rPr lang="en-IN" b="1" dirty="0"/>
              <a:t>Null Hypothesis (H₀):</a:t>
            </a:r>
            <a:r>
              <a:rPr lang="en-IN" dirty="0"/>
              <a:t> The Average book rating is 4.0 </a:t>
            </a:r>
          </a:p>
          <a:p>
            <a:pPr lvl="0">
              <a:lnSpc>
                <a:spcPct val="150000"/>
              </a:lnSpc>
            </a:pPr>
            <a:r>
              <a:rPr lang="en-IN" b="1" dirty="0"/>
              <a:t>Alternative Hypothesis (H₁):</a:t>
            </a:r>
            <a:r>
              <a:rPr lang="en-IN" dirty="0"/>
              <a:t> The Average book rating is not 4.0</a:t>
            </a:r>
          </a:p>
          <a:p>
            <a:pPr lvl="0">
              <a:lnSpc>
                <a:spcPct val="150000"/>
              </a:lnSpc>
            </a:pPr>
            <a:endParaRPr lang="en-IN" dirty="0"/>
          </a:p>
          <a:p>
            <a:pPr>
              <a:lnSpc>
                <a:spcPct val="100000"/>
              </a:lnSpc>
            </a:pPr>
            <a:r>
              <a:rPr lang="en-IN" b="1" dirty="0"/>
              <a:t>Test Used:</a:t>
            </a:r>
            <a:r>
              <a:rPr lang="en-IN" dirty="0"/>
              <a:t> Two-tailed Z-test</a:t>
            </a:r>
          </a:p>
          <a:p>
            <a:pPr lvl="0">
              <a:lnSpc>
                <a:spcPct val="150000"/>
              </a:lnSpc>
            </a:pPr>
            <a:endParaRPr lang="en-IN" dirty="0"/>
          </a:p>
          <a:p>
            <a:pPr>
              <a:lnSpc>
                <a:spcPct val="100000"/>
              </a:lnSpc>
            </a:pPr>
            <a:r>
              <a:rPr lang="en-IN" b="1" dirty="0"/>
              <a:t>Significance Level:</a:t>
            </a:r>
            <a:r>
              <a:rPr lang="en-IN" dirty="0"/>
              <a:t> 5% </a:t>
            </a:r>
          </a:p>
          <a:p>
            <a:pPr>
              <a:lnSpc>
                <a:spcPct val="100000"/>
              </a:lnSpc>
            </a:pPr>
            <a:endParaRPr lang="en-IN" dirty="0"/>
          </a:p>
          <a:p>
            <a:r>
              <a:rPr lang="en-IN" b="1" dirty="0"/>
              <a:t>Decision Rule:</a:t>
            </a:r>
            <a:endParaRPr lang="en-IN" dirty="0"/>
          </a:p>
          <a:p>
            <a:pPr lvl="0"/>
            <a:r>
              <a:rPr lang="en-IN" dirty="0"/>
              <a:t>If p-value &lt; 0.05, reject H₀.</a:t>
            </a:r>
          </a:p>
          <a:p>
            <a:pPr lvl="0"/>
            <a:r>
              <a:rPr lang="en-IN" dirty="0"/>
              <a:t>If p-value ≥ 0.05, fail to reject H₀.</a:t>
            </a:r>
          </a:p>
          <a:p>
            <a:pPr lvl="0"/>
            <a:endParaRPr lang="en-IN" dirty="0"/>
          </a:p>
          <a:p>
            <a:pPr lvl="0"/>
            <a:r>
              <a:rPr lang="en-IN" b="1" dirty="0"/>
              <a:t>Conclusion:</a:t>
            </a:r>
          </a:p>
          <a:p>
            <a:pPr latinLnBrk="1"/>
            <a:r>
              <a:rPr lang="en-IN" dirty="0"/>
              <a:t>P-value: 0.0</a:t>
            </a:r>
          </a:p>
          <a:p>
            <a:pPr latinLnBrk="1"/>
            <a:r>
              <a:rPr lang="en-IN" dirty="0"/>
              <a:t>Reject H0</a:t>
            </a:r>
          </a:p>
          <a:p>
            <a:br>
              <a:rPr lang="en-IN" dirty="0"/>
            </a:br>
            <a:endParaRPr lang="en-IN" dirty="0"/>
          </a:p>
          <a:p>
            <a:br>
              <a:rPr lang="en-IN" dirty="0"/>
            </a:br>
            <a:endParaRPr lang="en-IN" dirty="0"/>
          </a:p>
          <a:p>
            <a:pPr lvl="0"/>
            <a:endParaRPr lang="en-IN" dirty="0"/>
          </a:p>
          <a:p>
            <a:pPr lvl="0"/>
            <a:endParaRPr lang="en-IN" dirty="0"/>
          </a:p>
          <a:p>
            <a:pPr lvl="0"/>
            <a:endParaRPr lang="en-IN" dirty="0"/>
          </a:p>
          <a:p>
            <a:pPr lvl="0"/>
            <a:endParaRPr lang="en-IN" dirty="0"/>
          </a:p>
          <a:p>
            <a:pPr>
              <a:lnSpc>
                <a:spcPct val="100000"/>
              </a:lnSpc>
            </a:pPr>
            <a:endParaRPr lang="en-IN" dirty="0"/>
          </a:p>
          <a:p>
            <a:pPr lvl="0">
              <a:lnSpc>
                <a:spcPct val="150000"/>
              </a:lnSpc>
            </a:pPr>
            <a:endParaRPr lang="en-IN" dirty="0"/>
          </a:p>
          <a:p>
            <a:pPr lvl="0">
              <a:lnSpc>
                <a:spcPct val="150000"/>
              </a:lnSpc>
            </a:pPr>
            <a:endParaRPr lang="en-IN" dirty="0"/>
          </a:p>
          <a:p>
            <a:pPr lvl="0">
              <a:lnSpc>
                <a:spcPct val="150000"/>
              </a:lnSpc>
            </a:pPr>
            <a:endParaRPr lang="en-IN" dirty="0"/>
          </a:p>
          <a:p>
            <a:pPr algn="just">
              <a:lnSpc>
                <a:spcPct val="90000"/>
              </a:lnSpc>
              <a:spcBef>
                <a:spcPts val="1001"/>
              </a:spcBef>
              <a:buNone/>
            </a:pPr>
            <a:endParaRPr lang="en-IN" sz="2400" b="0" strike="noStrike" spc="-1" dirty="0">
              <a:latin typeface="Arial"/>
            </a:endParaRPr>
          </a:p>
        </p:txBody>
      </p:sp>
      <p:sp>
        <p:nvSpPr>
          <p:cNvPr id="143" name="TextBox 142">
            <a:extLst>
              <a:ext uri="{FF2B5EF4-FFF2-40B4-BE49-F238E27FC236}">
                <a16:creationId xmlns:a16="http://schemas.microsoft.com/office/drawing/2014/main" id="{12656654-15FF-39FC-6C83-C39B189F9D5C}"/>
              </a:ext>
            </a:extLst>
          </p:cNvPr>
          <p:cNvSpPr txBox="1"/>
          <p:nvPr/>
        </p:nvSpPr>
        <p:spPr>
          <a:xfrm>
            <a:off x="540000" y="360000"/>
            <a:ext cx="6086942" cy="542160"/>
          </a:xfrm>
          <a:prstGeom prst="rect">
            <a:avLst/>
          </a:prstGeom>
          <a:noFill/>
          <a:ln w="0">
            <a:noFill/>
          </a:ln>
        </p:spPr>
        <p:txBody>
          <a:bodyPr lIns="90000" tIns="45000" rIns="90000" bIns="45000" anchor="t">
            <a:noAutofit/>
          </a:bodyPr>
          <a:lstStyle/>
          <a:p>
            <a:r>
              <a:rPr lang="en-US" sz="3200" b="0" strike="noStrike" spc="-1" dirty="0">
                <a:solidFill>
                  <a:srgbClr val="FF0000"/>
                </a:solidFill>
                <a:latin typeface="Times New Roman"/>
                <a:ea typeface="Lato Black"/>
              </a:rPr>
              <a:t>Hypothesis Testing</a:t>
            </a:r>
            <a:endParaRPr lang="en-IN" sz="3200" b="0" strike="noStrike" spc="-1" dirty="0">
              <a:latin typeface="Arial"/>
            </a:endParaRPr>
          </a:p>
        </p:txBody>
      </p:sp>
    </p:spTree>
    <p:extLst>
      <p:ext uri="{BB962C8B-B14F-4D97-AF65-F5344CB8AC3E}">
        <p14:creationId xmlns:p14="http://schemas.microsoft.com/office/powerpoint/2010/main" val="3420692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p:nvPr>
        </p:nvSpPr>
        <p:spPr>
          <a:xfrm>
            <a:off x="878040" y="1351080"/>
            <a:ext cx="10461960" cy="5128920"/>
          </a:xfrm>
          <a:prstGeom prst="rect">
            <a:avLst/>
          </a:prstGeom>
          <a:noFill/>
          <a:ln w="0">
            <a:noFill/>
          </a:ln>
        </p:spPr>
        <p:txBody>
          <a:bodyPr lIns="90000" tIns="45000" rIns="90000" bIns="45000" anchor="t">
            <a:noAutofit/>
          </a:bodyPr>
          <a:lstStyle/>
          <a:p>
            <a:pPr>
              <a:lnSpc>
                <a:spcPct val="150000"/>
              </a:lnSpc>
            </a:pPr>
            <a:r>
              <a:rPr lang="en-IN" sz="2000" b="1" dirty="0">
                <a:latin typeface="Times New Roman" panose="02020603050405020304" pitchFamily="18" charset="0"/>
                <a:cs typeface="Times New Roman" panose="02020603050405020304" pitchFamily="18" charset="0"/>
              </a:rPr>
              <a:t>Develop an interactive dashboard</a:t>
            </a:r>
            <a:r>
              <a:rPr lang="en-IN" sz="2000" dirty="0">
                <a:latin typeface="Times New Roman" panose="02020603050405020304" pitchFamily="18" charset="0"/>
                <a:cs typeface="Times New Roman" panose="02020603050405020304" pitchFamily="18" charset="0"/>
              </a:rPr>
              <a:t> to allow users to explore books based on rating, popularity, genre, format and publication year.</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Expand the scraped dataset</a:t>
            </a:r>
            <a:r>
              <a:rPr lang="en-IN" sz="2000" dirty="0">
                <a:latin typeface="Times New Roman" panose="02020603050405020304" pitchFamily="18" charset="0"/>
                <a:cs typeface="Times New Roman" panose="02020603050405020304" pitchFamily="18" charset="0"/>
              </a:rPr>
              <a:t> by collecting more Goodreads books and additional pages to improve the reliability of the analysis.</a:t>
            </a:r>
          </a:p>
          <a:p>
            <a:pPr>
              <a:lnSpc>
                <a:spcPct val="150000"/>
              </a:lnSpc>
            </a:pPr>
            <a:r>
              <a:rPr lang="en-IN" sz="2000" b="1" dirty="0" err="1">
                <a:latin typeface="Times New Roman" panose="02020603050405020304" pitchFamily="18" charset="0"/>
                <a:cs typeface="Times New Roman" panose="02020603050405020304" pitchFamily="18" charset="0"/>
              </a:rPr>
              <a:t>Analyze</a:t>
            </a:r>
            <a:r>
              <a:rPr lang="en-IN" sz="2000" b="1" dirty="0">
                <a:latin typeface="Times New Roman" panose="02020603050405020304" pitchFamily="18" charset="0"/>
                <a:cs typeface="Times New Roman" panose="02020603050405020304" pitchFamily="18" charset="0"/>
              </a:rPr>
              <a:t> authors and genres in greater detail</a:t>
            </a:r>
            <a:r>
              <a:rPr lang="en-IN" sz="2000" dirty="0">
                <a:latin typeface="Times New Roman" panose="02020603050405020304" pitchFamily="18" charset="0"/>
                <a:cs typeface="Times New Roman" panose="02020603050405020304" pitchFamily="18" charset="0"/>
              </a:rPr>
              <a:t> to identify popular authors, frequently occurring genres and highly rated categories.</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Improve book discovery and recommendations</a:t>
            </a:r>
            <a:r>
              <a:rPr lang="en-IN" sz="2000" dirty="0">
                <a:latin typeface="Times New Roman" panose="02020603050405020304" pitchFamily="18" charset="0"/>
                <a:cs typeface="Times New Roman" panose="02020603050405020304" pitchFamily="18" charset="0"/>
              </a:rPr>
              <a:t> by using rating, popularity, genre and other book characteristics to identify books that may be relevant to readers.</a:t>
            </a:r>
          </a:p>
        </p:txBody>
      </p:sp>
      <p:sp>
        <p:nvSpPr>
          <p:cNvPr id="157" name="Google Shape;105;p3"/>
          <p:cNvSpPr/>
          <p:nvPr/>
        </p:nvSpPr>
        <p:spPr>
          <a:xfrm>
            <a:off x="804960" y="600480"/>
            <a:ext cx="5721480" cy="47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IN" sz="3200" b="0" strike="noStrike" spc="-1">
                <a:solidFill>
                  <a:srgbClr val="FF0000"/>
                </a:solidFill>
                <a:latin typeface="Times New Roman"/>
                <a:ea typeface="Lato Black"/>
              </a:rPr>
              <a:t>Recommendations</a:t>
            </a:r>
            <a:endParaRPr lang="en-IN" sz="3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additive="repl">
                                        <p:cTn id="7"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p:nvPr>
        </p:nvSpPr>
        <p:spPr>
          <a:xfrm>
            <a:off x="580103" y="1080000"/>
            <a:ext cx="10781857" cy="5308920"/>
          </a:xfrm>
          <a:prstGeom prst="rect">
            <a:avLst/>
          </a:prstGeom>
          <a:noFill/>
          <a:ln w="0">
            <a:noFill/>
          </a:ln>
        </p:spPr>
        <p:txBody>
          <a:bodyPr lIns="90000" tIns="45000" rIns="90000" bIns="45000" anchor="t">
            <a:normAutofit/>
          </a:bodyPr>
          <a:lstStyle/>
          <a:p>
            <a:pPr>
              <a:lnSpc>
                <a:spcPct val="150000"/>
              </a:lnSpc>
            </a:pPr>
            <a:r>
              <a:rPr lang="en-IN" sz="2000" dirty="0">
                <a:latin typeface="Times New Roman" panose="02020603050405020304" pitchFamily="18" charset="0"/>
                <a:cs typeface="Times New Roman" panose="02020603050405020304" pitchFamily="18" charset="0"/>
              </a:rPr>
              <a:t>The Goodreads web scraping project successfully transformed book information available across web pages into a structured dataset for analysis.</a:t>
            </a:r>
          </a:p>
          <a:p>
            <a:pPr>
              <a:lnSpc>
                <a:spcPct val="150000"/>
              </a:lnSpc>
            </a:pPr>
            <a:r>
              <a:rPr lang="en-IN" sz="2000" dirty="0">
                <a:latin typeface="Times New Roman" panose="02020603050405020304" pitchFamily="18" charset="0"/>
                <a:cs typeface="Times New Roman" panose="02020603050405020304" pitchFamily="18" charset="0"/>
              </a:rPr>
              <a:t>The analysis also shows that book characteristics such as pages, format and publication year can be compared with ratings and popularity to identify meaningful patterns.</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Univariate, bivariate and multivariate analysis</a:t>
            </a:r>
            <a:r>
              <a:rPr lang="en-IN" sz="2000" dirty="0">
                <a:latin typeface="Times New Roman" panose="02020603050405020304" pitchFamily="18" charset="0"/>
                <a:cs typeface="Times New Roman" panose="02020603050405020304" pitchFamily="18" charset="0"/>
              </a:rPr>
              <a:t> helped examine individual distributions as well as relationships between multiple book attributes.</a:t>
            </a:r>
          </a:p>
          <a:p>
            <a:pPr>
              <a:lnSpc>
                <a:spcPct val="150000"/>
              </a:lnSpc>
            </a:pPr>
            <a:r>
              <a:rPr lang="en-IN" sz="2000" dirty="0">
                <a:latin typeface="Times New Roman" panose="02020603050405020304" pitchFamily="18" charset="0"/>
                <a:cs typeface="Times New Roman" panose="02020603050405020304" pitchFamily="18" charset="0"/>
              </a:rPr>
              <a:t> Overall, the project demonstrates how </a:t>
            </a:r>
            <a:r>
              <a:rPr lang="en-IN" sz="2000" b="1" dirty="0">
                <a:latin typeface="Times New Roman" panose="02020603050405020304" pitchFamily="18" charset="0"/>
                <a:cs typeface="Times New Roman" panose="02020603050405020304" pitchFamily="18" charset="0"/>
              </a:rPr>
              <a:t>web scraping, data cleaning and exploratory data analysis can convert raw online book data into useful business insights.</a:t>
            </a:r>
            <a:endParaRPr lang="en-IN" sz="2000" dirty="0">
              <a:latin typeface="Times New Roman" panose="02020603050405020304" pitchFamily="18" charset="0"/>
              <a:cs typeface="Times New Roman" panose="02020603050405020304" pitchFamily="18" charset="0"/>
            </a:endParaRPr>
          </a:p>
        </p:txBody>
      </p:sp>
      <p:sp>
        <p:nvSpPr>
          <p:cNvPr id="159" name="Google Shape;105;p3"/>
          <p:cNvSpPr/>
          <p:nvPr/>
        </p:nvSpPr>
        <p:spPr>
          <a:xfrm>
            <a:off x="654194" y="469080"/>
            <a:ext cx="5721480" cy="47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IN" sz="3200" b="0" strike="noStrike" spc="-1" dirty="0">
                <a:solidFill>
                  <a:srgbClr val="FF0000"/>
                </a:solidFill>
                <a:latin typeface="Times New Roman"/>
                <a:ea typeface="Lato Black"/>
              </a:rPr>
              <a:t>Conclusion</a:t>
            </a:r>
            <a:endParaRPr lang="en-IN" sz="3200" b="0" strike="noStrike" spc="-1"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additive="repl">
                                        <p:cTn id="7"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A33D-D010-85D5-10A0-584E36C6DA09}"/>
            </a:ext>
          </a:extLst>
        </p:cNvPr>
        <p:cNvGrpSpPr/>
        <p:nvPr/>
      </p:nvGrpSpPr>
      <p:grpSpPr>
        <a:xfrm>
          <a:off x="0" y="0"/>
          <a:ext cx="0" cy="0"/>
          <a:chOff x="0" y="0"/>
          <a:chExt cx="0" cy="0"/>
        </a:xfrm>
      </p:grpSpPr>
      <p:sp>
        <p:nvSpPr>
          <p:cNvPr id="158" name="PlaceHolder 1">
            <a:extLst>
              <a:ext uri="{FF2B5EF4-FFF2-40B4-BE49-F238E27FC236}">
                <a16:creationId xmlns:a16="http://schemas.microsoft.com/office/drawing/2014/main" id="{06E06E8C-CA8B-4452-B870-9CB69886FBC2}"/>
              </a:ext>
            </a:extLst>
          </p:cNvPr>
          <p:cNvSpPr>
            <a:spLocks noGrp="1"/>
          </p:cNvSpPr>
          <p:nvPr>
            <p:ph/>
          </p:nvPr>
        </p:nvSpPr>
        <p:spPr>
          <a:xfrm>
            <a:off x="900000" y="1080000"/>
            <a:ext cx="10461960" cy="5308920"/>
          </a:xfrm>
          <a:prstGeom prst="rect">
            <a:avLst/>
          </a:prstGeom>
          <a:noFill/>
          <a:ln w="0">
            <a:noFill/>
          </a:ln>
        </p:spPr>
        <p:txBody>
          <a:bodyPr lIns="90000" tIns="45000" rIns="90000" bIns="45000" anchor="t">
            <a:normAutofit/>
          </a:bodyPr>
          <a:lstStyle/>
          <a:p>
            <a:pPr>
              <a:lnSpc>
                <a:spcPct val="150000"/>
              </a:lnSpc>
            </a:pPr>
            <a:r>
              <a:rPr lang="en-IN" sz="2000" dirty="0">
                <a:latin typeface="Times New Roman" panose="02020603050405020304" pitchFamily="18" charset="0"/>
                <a:cs typeface="Times New Roman" panose="02020603050405020304" pitchFamily="18" charset="0"/>
              </a:rPr>
              <a:t>Selenium and </a:t>
            </a:r>
            <a:r>
              <a:rPr lang="en-IN" sz="2000" dirty="0" err="1">
                <a:latin typeface="Times New Roman" panose="02020603050405020304" pitchFamily="18" charset="0"/>
                <a:cs typeface="Times New Roman" panose="02020603050405020304" pitchFamily="18" charset="0"/>
              </a:rPr>
              <a:t>BeautifulSoup</a:t>
            </a:r>
            <a:r>
              <a:rPr lang="en-IN" sz="2000" dirty="0">
                <a:latin typeface="Times New Roman" panose="02020603050405020304" pitchFamily="18" charset="0"/>
                <a:cs typeface="Times New Roman" panose="02020603050405020304" pitchFamily="18" charset="0"/>
              </a:rPr>
              <a:t> were used together to access individual book pages and extract additional information such as pages, format, publication date and genres.</a:t>
            </a:r>
          </a:p>
          <a:p>
            <a:pPr>
              <a:lnSpc>
                <a:spcPct val="150000"/>
              </a:lnSpc>
            </a:pPr>
            <a:r>
              <a:rPr lang="en-IN" sz="2000" dirty="0">
                <a:latin typeface="Times New Roman" panose="02020603050405020304" pitchFamily="18" charset="0"/>
                <a:cs typeface="Times New Roman" panose="02020603050405020304" pitchFamily="18" charset="0"/>
              </a:rPr>
              <a:t> Another challenge was handling </a:t>
            </a:r>
            <a:r>
              <a:rPr lang="en-IN" sz="2000" b="1" dirty="0">
                <a:latin typeface="Times New Roman" panose="02020603050405020304" pitchFamily="18" charset="0"/>
                <a:cs typeface="Times New Roman" panose="02020603050405020304" pitchFamily="18" charset="0"/>
              </a:rPr>
              <a:t>missing and inconsistent scraped values</a:t>
            </a:r>
            <a:r>
              <a:rPr lang="en-IN" sz="2000" dirty="0">
                <a:latin typeface="Times New Roman" panose="02020603050405020304" pitchFamily="18" charset="0"/>
                <a:cs typeface="Times New Roman" panose="02020603050405020304" pitchFamily="18" charset="0"/>
              </a:rPr>
              <a:t>, which required data cleaning and appropriate treatment of missing values.</a:t>
            </a:r>
          </a:p>
          <a:p>
            <a:pPr>
              <a:lnSpc>
                <a:spcPct val="150000"/>
              </a:lnSpc>
            </a:pPr>
            <a:r>
              <a:rPr lang="en-IN" sz="2000" dirty="0">
                <a:latin typeface="Times New Roman" panose="02020603050405020304" pitchFamily="18" charset="0"/>
                <a:cs typeface="Times New Roman" panose="02020603050405020304" pitchFamily="18" charset="0"/>
              </a:rPr>
              <a:t>Working on this project provided practical experience in web scraping, data cleaning, Pandas and exploratory data analysis.</a:t>
            </a:r>
          </a:p>
          <a:p>
            <a:pPr>
              <a:lnSpc>
                <a:spcPct val="150000"/>
              </a:lnSpc>
            </a:pPr>
            <a:r>
              <a:rPr lang="en-IN" sz="2000" dirty="0">
                <a:latin typeface="Times New Roman" panose="02020603050405020304" pitchFamily="18" charset="0"/>
                <a:cs typeface="Times New Roman" panose="02020603050405020304" pitchFamily="18" charset="0"/>
              </a:rPr>
              <a:t> The project also improved my understanding of how to </a:t>
            </a:r>
            <a:r>
              <a:rPr lang="en-IN" sz="2000" b="1" dirty="0">
                <a:latin typeface="Times New Roman" panose="02020603050405020304" pitchFamily="18" charset="0"/>
                <a:cs typeface="Times New Roman" panose="02020603050405020304" pitchFamily="18" charset="0"/>
              </a:rPr>
              <a:t>convert unstructured web data into a structured dataset </a:t>
            </a:r>
            <a:r>
              <a:rPr lang="en-IN" sz="2000" dirty="0">
                <a:latin typeface="Times New Roman" panose="02020603050405020304" pitchFamily="18" charset="0"/>
                <a:cs typeface="Times New Roman" panose="02020603050405020304" pitchFamily="18" charset="0"/>
              </a:rPr>
              <a:t>and derive meaningful insights from it.</a:t>
            </a:r>
          </a:p>
        </p:txBody>
      </p:sp>
      <p:sp>
        <p:nvSpPr>
          <p:cNvPr id="159" name="Google Shape;105;p3">
            <a:extLst>
              <a:ext uri="{FF2B5EF4-FFF2-40B4-BE49-F238E27FC236}">
                <a16:creationId xmlns:a16="http://schemas.microsoft.com/office/drawing/2014/main" id="{9384ADB7-7CBF-DFF3-384D-A6E57CEE38C3}"/>
              </a:ext>
            </a:extLst>
          </p:cNvPr>
          <p:cNvSpPr/>
          <p:nvPr/>
        </p:nvSpPr>
        <p:spPr>
          <a:xfrm>
            <a:off x="900000" y="600480"/>
            <a:ext cx="5721480" cy="4848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0000"/>
              </a:lnSpc>
              <a:buNone/>
              <a:tabLst>
                <a:tab pos="0" algn="l"/>
              </a:tabLst>
            </a:pPr>
            <a:r>
              <a:rPr lang="en-US" sz="3200" spc="-1" dirty="0">
                <a:solidFill>
                  <a:srgbClr val="FF0000"/>
                </a:solidFill>
                <a:latin typeface="Times New Roman"/>
                <a:ea typeface="Lato Black"/>
              </a:rPr>
              <a:t>Experience and Challenges</a:t>
            </a:r>
            <a:endParaRPr lang="en-IN" sz="3200" b="0" strike="noStrike" spc="-1" dirty="0">
              <a:latin typeface="Arial"/>
            </a:endParaRPr>
          </a:p>
        </p:txBody>
      </p:sp>
    </p:spTree>
    <p:extLst>
      <p:ext uri="{BB962C8B-B14F-4D97-AF65-F5344CB8AC3E}">
        <p14:creationId xmlns:p14="http://schemas.microsoft.com/office/powerpoint/2010/main" val="2993689077"/>
      </p:ext>
    </p:extLst>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additive="repl">
                                        <p:cTn id="7"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Google Shape;117;p5"/>
          <p:cNvSpPr/>
          <p:nvPr/>
        </p:nvSpPr>
        <p:spPr>
          <a:xfrm>
            <a:off x="3060000" y="2880000"/>
            <a:ext cx="5940000" cy="198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tabLst>
                <a:tab pos="0" algn="l"/>
              </a:tabLst>
            </a:pPr>
            <a:r>
              <a:rPr lang="en-US" sz="4400" spc="-1" dirty="0">
                <a:solidFill>
                  <a:srgbClr val="C00000"/>
                </a:solidFill>
                <a:latin typeface="Libre Baskerville"/>
              </a:rPr>
              <a:t>             Q &amp; A</a:t>
            </a:r>
            <a:endParaRPr lang="en-IN" sz="4400" spc="-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Google Shape;116;p 1"/>
          <p:cNvPicPr/>
          <p:nvPr/>
        </p:nvPicPr>
        <p:blipFill>
          <a:blip r:embed="rId2"/>
          <a:stretch/>
        </p:blipFill>
        <p:spPr>
          <a:xfrm>
            <a:off x="6466680" y="1850760"/>
            <a:ext cx="4465080" cy="2833560"/>
          </a:xfrm>
          <a:prstGeom prst="rect">
            <a:avLst/>
          </a:prstGeom>
          <a:ln w="0">
            <a:noFill/>
          </a:ln>
        </p:spPr>
      </p:pic>
      <p:sp>
        <p:nvSpPr>
          <p:cNvPr id="162" name="Google Shape;117;p 1"/>
          <p:cNvSpPr/>
          <p:nvPr/>
        </p:nvSpPr>
        <p:spPr>
          <a:xfrm>
            <a:off x="1244520" y="2997360"/>
            <a:ext cx="3661200" cy="76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tabLst>
                <a:tab pos="0" algn="l"/>
              </a:tabLst>
            </a:pPr>
            <a:r>
              <a:rPr lang="en-IN" sz="4400" b="0" strike="noStrike" spc="-1" dirty="0">
                <a:solidFill>
                  <a:srgbClr val="C00000"/>
                </a:solidFill>
                <a:latin typeface="Libre Baskerville"/>
                <a:ea typeface="Libre Baskerville"/>
              </a:rPr>
              <a:t>THANK YOU</a:t>
            </a:r>
            <a:endParaRPr lang="en-IN" sz="4400" b="0" strike="noStrike" spc="-1" dirty="0">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1040</TotalTime>
  <Words>1121</Words>
  <Application>Microsoft Office PowerPoint</Application>
  <PresentationFormat>Widescreen</PresentationFormat>
  <Paragraphs>94</Paragraphs>
  <Slides>19</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19</vt:i4>
      </vt:variant>
    </vt:vector>
  </HeadingPairs>
  <TitlesOfParts>
    <vt:vector size="28" baseType="lpstr">
      <vt:lpstr>Arial</vt:lpstr>
      <vt:lpstr>Calibri</vt:lpstr>
      <vt:lpstr>Libre Baskerville</vt:lpstr>
      <vt:lpstr>Symbol</vt:lpstr>
      <vt:lpstr>Times New Roman</vt:lpstr>
      <vt:lpstr>Wingdings</vt:lpstr>
      <vt:lpstr>Office Theme</vt:lpstr>
      <vt:lpstr>Office Theme</vt:lpstr>
      <vt:lpstr>Office Theme</vt:lpstr>
      <vt:lpstr>PowerPoint Presentation</vt:lpstr>
      <vt:lpstr>PowerPoint Presentation</vt:lpstr>
      <vt:lpstr>Agenda</vt:lpstr>
      <vt:lpstr>Goodreads contains a large collection of books with information such as ratings, number of ratings, authors, pages, formats, genres, publication dates, list scores and votes. However, this information is spread across web pages, making direct comparison and analysis difficult. Readers need to identify books that offer strong ratings and popularity while comparing factors such as ratings, reviews, pages, format and genre. Authors and publishers can benefit from understanding how books perform in terms of reader ratings and popularity. At the same time, Goodreads can use such patterns to improve book discovery and recommendations. The core business problem, therefore, is to move from individual book listings to a structured understanding of book popularity, ratings, formats, genres and publication trends through web scraping and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 Ram Aduri</dc:creator>
  <dc:description/>
  <cp:lastModifiedBy>akhila1482005@gmail.com</cp:lastModifiedBy>
  <cp:revision>10</cp:revision>
  <dcterms:created xsi:type="dcterms:W3CDTF">2021-02-16T05:19:01Z</dcterms:created>
  <dcterms:modified xsi:type="dcterms:W3CDTF">2026-10-09T18:17:22Z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Widescreen</vt:lpwstr>
  </property>
  <property fmtid="{D5CDD505-2E9C-101B-9397-08002B2CF9AE}" pid="4" name="Slides">
    <vt:i4>11</vt:i4>
  </property>
</Properties>
</file>